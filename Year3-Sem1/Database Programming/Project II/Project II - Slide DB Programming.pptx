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21" r:id="rId2"/>
    <p:sldId id="315" r:id="rId3"/>
    <p:sldId id="319" r:id="rId4"/>
    <p:sldId id="259" r:id="rId5"/>
    <p:sldId id="256" r:id="rId6"/>
    <p:sldId id="335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55" r:id="rId17"/>
    <p:sldId id="356" r:id="rId18"/>
    <p:sldId id="357" r:id="rId19"/>
    <p:sldId id="358" r:id="rId20"/>
    <p:sldId id="359" r:id="rId21"/>
    <p:sldId id="360" r:id="rId22"/>
    <p:sldId id="361" r:id="rId23"/>
    <p:sldId id="362" r:id="rId24"/>
    <p:sldId id="345" r:id="rId25"/>
    <p:sldId id="364" r:id="rId26"/>
    <p:sldId id="267" r:id="rId27"/>
    <p:sldId id="344" r:id="rId28"/>
    <p:sldId id="363" r:id="rId29"/>
    <p:sldId id="365" r:id="rId30"/>
    <p:sldId id="366" r:id="rId31"/>
    <p:sldId id="31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FAFF"/>
    <a:srgbClr val="87CEEB"/>
    <a:srgbClr val="F2F2F2"/>
    <a:srgbClr val="6C1D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4031C0-3768-6BDD-0B18-FFD0AC142F5C}" v="1684" dt="2026-01-15T07:22:27.662"/>
    <p1510:client id="{7A702B34-6280-0AAD-E113-F9E8E76F77A5}" v="138" dt="2026-01-15T10:28:49.903"/>
    <p1510:client id="{AFE31703-72C8-46F4-A764-E32442519D88}" v="399" dt="2026-01-15T10:43:05.543"/>
    <p1510:client id="{B3497EE9-42D4-D0DC-295E-C5B07300D201}" v="569" dt="2026-01-15T10:35:32.3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09BF-53EE-4D84-844F-BEC1430829BC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B6879-5321-45FF-A6AE-E6B1BB62C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4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611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375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E9957-AC1F-8D9E-F01D-D5B92C22E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4CD7A-0415-66C2-89D5-589485A1D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02B11-A24B-8FF4-A4B6-A5898EF2D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76B2B-0CA0-D666-5234-5FC0B2001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31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9D484-4025-9C3C-B593-F114806BA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128EA-A253-DA4C-9915-8608EBFAA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9E763-96DA-5E09-19DC-04F069D9E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6A5E6-603C-3720-FBA1-C1C6922D3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41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46FF3-3919-8B90-4FD1-1036FF4D0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11114-0CF7-FED5-6FA0-19B6BA72B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20121-92F2-6948-E852-DF3BDEF2A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89226-E2E3-64E8-0EFA-50EB33689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76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4BD27-56E6-3EE5-8B5F-D391BC123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2930D-B5C3-3D22-F86E-C0AA96530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6263C-B938-BF7A-3A64-FBB157CF0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CF086-DE52-CF29-C74D-72AAFFF37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689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F0E3A-2A1C-93E2-3268-51BDB68F7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34BFB5-25C3-E2A1-88F6-7A95CECE6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A08578-1D43-6752-8B34-4C35AC252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6D6B0-BE72-CEC2-8DFF-EC5ADA40F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08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31C46-23F8-2E14-0085-64EC5704C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37E42-976C-4F8C-FC1E-BE4AC65F4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FB364-5EBA-513A-E420-AEEF9705C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0D2F0-AEA6-B5F0-DCCA-C852D1E72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125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8F1FE-333E-AA60-65D9-A26BB757E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F18A0-E613-92D7-6950-69FC10D6C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AA54C-E574-DD38-6364-1D6B9531E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CFA12-EC91-E061-26FF-1243978B82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91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A9F25-2DE2-7224-340F-45CF0E5F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A3FB7-2DB1-BFEC-F697-8D11292A7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A7387-BCB0-2EC5-C4FD-9791C8712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A8732-9795-9729-E9FF-74B335F7A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778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3F43-DA89-AC6C-3BE6-3DA77F8E1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C467C-D119-D460-D5B5-5CD08C18A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FFEA6-99E4-059D-FA73-DC8DD5559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E6013-336E-5662-5B99-793FC9009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922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1B65F-F061-CB89-9B1D-AC0A2EA48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6FE13-F0C9-8B7A-3101-47DEA6644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A9962-9959-6D9A-0D8E-F9AC2AB69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6DF95-0948-B6F7-65C0-DD468CC7A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9069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31066-AD2A-A6EA-42AA-86CB6BDAE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CABD66-ABBE-2ADA-2174-82B20A2EB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A54DA-DBC9-78F4-8595-5739F384F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FA2F4-C967-C30F-3395-DB12AA23E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60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177CD-6F48-3423-465B-AB45D3730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F067CB-C526-AA48-18F2-14C6054FC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F7D22-9074-2E05-FAB7-5E1CDA29D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F0264-0DC0-4D21-8AED-6B8F6CDC2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034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416A9-DA33-CDFC-E1C6-E145B3C1B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D684E-E7D4-A814-08EA-0A340723F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D41FA-8282-9FB8-FE64-D77EBF825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95125-722B-3CFF-599A-E20C75022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917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C6402-1AFB-207A-B45C-0E8BED865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ED989-DAEC-B25E-1BB5-4C5D6D243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CA18D-4F92-948E-23FF-4B4959519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D284B-EB6C-BDDF-4D8A-AF20811B6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166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E93F1-8C2F-3BDE-9969-BA9BF026B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D80E7-C3C8-4853-5853-198167563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ABCAF-B933-20B6-A9E4-CBCED01DF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86A13-B807-B5E5-C3D7-8305D45FE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307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A64B6-8D2A-5DEA-2A64-33B78DC58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4050E-D034-2C38-6216-A9A654317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3F39DF-9D22-0353-E078-80B867EFE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4AB0B-E203-78FC-9BF2-3FE489B1CE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727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5F548-EA8B-0646-0812-7E36A5423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9F22D-6C74-6BC0-EB1C-66BEFF871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7E99C-F576-AC46-FF1F-797E68FB0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404CD-3B3E-EAFD-69AD-B52D73AEC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46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tiff"/><Relationship Id="rId5" Type="http://schemas.openxmlformats.org/officeDocument/2006/relationships/image" Target="../media/image6.sv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77FC49-908E-7282-71D1-FF9B45CC79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428041" y="-1428041"/>
            <a:ext cx="6880030" cy="9736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FB5ACA-D821-A539-94D6-EEC7337F3A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9000"/>
          </a:blip>
          <a:stretch>
            <a:fillRect/>
          </a:stretch>
        </p:blipFill>
        <p:spPr>
          <a:xfrm rot="10800000" flipV="1">
            <a:off x="59093" y="0"/>
            <a:ext cx="12073813" cy="3109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00D8EF-2DF1-88B7-4784-92F60D932A2D}"/>
              </a:ext>
            </a:extLst>
          </p:cNvPr>
          <p:cNvSpPr/>
          <p:nvPr userDrawn="1"/>
        </p:nvSpPr>
        <p:spPr>
          <a:xfrm rot="5400000">
            <a:off x="5953544" y="641578"/>
            <a:ext cx="28490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8E44-B184-3318-E83E-1ED0427C4C32}"/>
              </a:ext>
            </a:extLst>
          </p:cNvPr>
          <p:cNvSpPr txBox="1"/>
          <p:nvPr userDrawn="1"/>
        </p:nvSpPr>
        <p:spPr>
          <a:xfrm>
            <a:off x="5479363" y="6595121"/>
            <a:ext cx="1377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i="0">
                <a:solidFill>
                  <a:schemeClr val="bg1">
                    <a:lumMod val="95000"/>
                  </a:schemeClr>
                </a:solidFill>
                <a:ea typeface="Montserrat Semi" charset="0"/>
                <a:cs typeface="Montserrat Semi" charset="0"/>
              </a:rPr>
              <a:t>www.utm.my</a:t>
            </a:r>
            <a:endParaRPr lang="en-US" sz="1100" b="1" i="0">
              <a:solidFill>
                <a:schemeClr val="accent4"/>
              </a:solidFill>
              <a:ea typeface="Montserrat Semi" charset="0"/>
              <a:cs typeface="Montserrat Sem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644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8336-6E97-19E8-88CA-FE902FF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694A3-909C-4BC7-8684-CF6A8DF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86F0-1709-92BF-CEC8-7DFA93F8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93728-E209-C557-FA87-A687A2439D90}"/>
              </a:ext>
            </a:extLst>
          </p:cNvPr>
          <p:cNvGrpSpPr/>
          <p:nvPr userDrawn="1"/>
        </p:nvGrpSpPr>
        <p:grpSpPr>
          <a:xfrm>
            <a:off x="0" y="0"/>
            <a:ext cx="4323456" cy="7438348"/>
            <a:chOff x="0" y="0"/>
            <a:chExt cx="4323456" cy="74383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291997A-C196-DCDE-0EA0-51D4FDEDA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18649" cy="4463581"/>
            </a:xfrm>
            <a:prstGeom prst="rect">
              <a:avLst/>
            </a:prstGeom>
          </p:spPr>
        </p:pic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14354985-0AB8-E860-28D0-17AD10E6B863}"/>
                </a:ext>
              </a:extLst>
            </p:cNvPr>
            <p:cNvSpPr/>
            <p:nvPr userDrawn="1"/>
          </p:nvSpPr>
          <p:spPr>
            <a:xfrm rot="8446488">
              <a:off x="1155879" y="3069975"/>
              <a:ext cx="2214654" cy="3120244"/>
            </a:xfrm>
            <a:prstGeom prst="parallelogram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C95F9B9-2A5B-F93A-EA33-600D61519C46}"/>
                </a:ext>
              </a:extLst>
            </p:cNvPr>
            <p:cNvSpPr/>
            <p:nvPr userDrawn="1"/>
          </p:nvSpPr>
          <p:spPr>
            <a:xfrm rot="8446488">
              <a:off x="2539020" y="5497285"/>
              <a:ext cx="1784436" cy="1941063"/>
            </a:xfrm>
            <a:custGeom>
              <a:avLst/>
              <a:gdLst>
                <a:gd name="connsiteX0" fmla="*/ 0 w 2214654"/>
                <a:gd name="connsiteY0" fmla="*/ 3120244 h 3120244"/>
                <a:gd name="connsiteX1" fmla="*/ 553664 w 2214654"/>
                <a:gd name="connsiteY1" fmla="*/ 0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2214654"/>
                <a:gd name="connsiteY0" fmla="*/ 3120244 h 3120244"/>
                <a:gd name="connsiteX1" fmla="*/ 341522 w 2214654"/>
                <a:gd name="connsiteY1" fmla="*/ 1179181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1784436"/>
                <a:gd name="connsiteY0" fmla="*/ 1941063 h 1941063"/>
                <a:gd name="connsiteX1" fmla="*/ 341522 w 1784436"/>
                <a:gd name="connsiteY1" fmla="*/ 0 h 1941063"/>
                <a:gd name="connsiteX2" fmla="*/ 1784436 w 1784436"/>
                <a:gd name="connsiteY2" fmla="*/ 1205605 h 1941063"/>
                <a:gd name="connsiteX3" fmla="*/ 1660991 w 1784436"/>
                <a:gd name="connsiteY3" fmla="*/ 1941063 h 1941063"/>
                <a:gd name="connsiteX4" fmla="*/ 0 w 1784436"/>
                <a:gd name="connsiteY4" fmla="*/ 1941063 h 194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4436" h="1941063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B5606AF-41C6-0137-32A8-807A0A5D0D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126331" y="-1062392"/>
            <a:ext cx="2405080" cy="33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4D5AD-886B-F49D-187E-EF188BA5C86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99000"/>
          </a:blip>
          <a:stretch>
            <a:fillRect/>
          </a:stretch>
        </p:blipFill>
        <p:spPr>
          <a:xfrm rot="5400000" flipV="1">
            <a:off x="-2602281" y="2616106"/>
            <a:ext cx="7046892" cy="181468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DB128DF-CD31-0CEB-4D7C-71A65806236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83211" y="3743462"/>
            <a:ext cx="2080701" cy="297801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FF214BE-EBD1-4C75-B559-2A68D3A7182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830037" y="6046777"/>
            <a:ext cx="4191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4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22F56BC-829B-3BC8-96F9-8B26B69F0F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3" b="797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D44EBC3-45F4-19C6-0AEB-16C907B4BCB5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12000">
                <a:srgbClr val="6C1D35">
                  <a:alpha val="68000"/>
                </a:srgbClr>
              </a:gs>
              <a:gs pos="77000">
                <a:schemeClr val="accent1">
                  <a:lumMod val="7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8AE63-F58B-C295-2F24-0E7B0755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40798-1691-00D6-C3D9-64CC3EB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835F-2749-4B9F-A9CB-5E0BF43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BA782F0-1339-9AD7-88E8-E482862A0C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7112000" y="-35081"/>
            <a:ext cx="4917440" cy="69211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55F31CF-FB2A-3612-E2CA-58665EF22E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11268262" y="349094"/>
            <a:ext cx="2010036" cy="2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84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0EB9F-5240-3366-0373-E8B7C3C2A4FE}"/>
              </a:ext>
            </a:extLst>
          </p:cNvPr>
          <p:cNvSpPr/>
          <p:nvPr userDrawn="1"/>
        </p:nvSpPr>
        <p:spPr>
          <a:xfrm>
            <a:off x="0" y="-2"/>
            <a:ext cx="12230100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7B2D7-FB34-55B3-113A-7F96DDA7A8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/>
          <a:stretch/>
        </p:blipFill>
        <p:spPr>
          <a:xfrm rot="16200000">
            <a:off x="2686050" y="-2686050"/>
            <a:ext cx="6858000" cy="122301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2BBA-3015-27B9-D210-D15544F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AB71C-4835-3D07-2B7F-A7456A46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7A9C-9AFC-99CF-42E5-627A5869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AB3E7-A192-D902-B47D-B2CC33AF3A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956ED8E-CF4D-D756-5FA9-5F3263853A9C}"/>
              </a:ext>
            </a:extLst>
          </p:cNvPr>
          <p:cNvGrpSpPr/>
          <p:nvPr userDrawn="1"/>
        </p:nvGrpSpPr>
        <p:grpSpPr>
          <a:xfrm>
            <a:off x="0" y="6438899"/>
            <a:ext cx="4425450" cy="419100"/>
            <a:chOff x="0" y="6438899"/>
            <a:chExt cx="4425450" cy="4191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85CCF7-2507-F40E-2E71-04B5C07C7F09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891B4BFE-7090-CB15-ACE2-E76D3D5E6402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796ACF-1284-B0D3-20AC-1A411B0B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47751"/>
            <a:ext cx="10515600" cy="1500187"/>
          </a:xfrm>
        </p:spPr>
        <p:txBody>
          <a:bodyPr anchor="t"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66E6B-CFF2-F241-A3D1-4FD4DAC4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14638"/>
            <a:ext cx="10515600" cy="33575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DBAF-8EC8-76B5-BD68-4EE498D1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1A71-0977-DB43-6672-9DD2B43F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AA75-9A52-677C-BAAB-361020BE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CA6469-707B-4B2D-CE38-C2E80563F8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B94ABDC-D409-D0CF-BFD9-E874B46B7EEF}"/>
              </a:ext>
            </a:extLst>
          </p:cNvPr>
          <p:cNvGrpSpPr/>
          <p:nvPr userDrawn="1"/>
        </p:nvGrpSpPr>
        <p:grpSpPr>
          <a:xfrm>
            <a:off x="0" y="0"/>
            <a:ext cx="2135014" cy="390908"/>
            <a:chOff x="0" y="0"/>
            <a:chExt cx="2135014" cy="3909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CC8F0A-14AF-F65B-6D14-A51CBEFF1729}"/>
                </a:ext>
              </a:extLst>
            </p:cNvPr>
            <p:cNvSpPr/>
            <p:nvPr userDrawn="1"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7D170A48-ED14-4722-ED48-412F8B7C44AA}"/>
                </a:ext>
              </a:extLst>
            </p:cNvPr>
            <p:cNvSpPr/>
            <p:nvPr userDrawn="1"/>
          </p:nvSpPr>
          <p:spPr>
            <a:xfrm flipV="1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B6D801-7EDC-E981-F405-040472A43AB5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0F7BDA-9A67-4500-FC96-D0DCA5669FC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D3808A-7510-8E14-D035-56A7CA6C58A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22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5FB79D-2789-2E82-ACD5-FA141CFFB8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6C3F4-36B0-1561-8EFF-3B31A7774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81125"/>
          </a:xfrm>
        </p:spPr>
        <p:txBody>
          <a:bodyPr anchor="t">
            <a:normAutofit/>
          </a:bodyPr>
          <a:lstStyle>
            <a:lvl1pPr algn="l">
              <a:defRPr sz="4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4E23C-BC64-3E31-C7C9-1CCB71C5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8"/>
            <a:ext cx="9144000" cy="346175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AB4A-F681-D1CE-536F-A8600B87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C815-2D69-C272-C63C-A195EBFE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A072-5E8E-BDBB-35CA-3A355E5D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1D35"/>
                </a:solidFill>
              </a:defRPr>
            </a:lvl1pPr>
          </a:lstStyle>
          <a:p>
            <a:fld id="{B5912E74-8957-4046-8937-1199D066517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B2FEB-1CDE-753F-3231-2131ED23FF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0EA2A08-0768-E840-71C5-CB5BA198C844}"/>
              </a:ext>
            </a:extLst>
          </p:cNvPr>
          <p:cNvGrpSpPr/>
          <p:nvPr userDrawn="1"/>
        </p:nvGrpSpPr>
        <p:grpSpPr>
          <a:xfrm>
            <a:off x="0" y="336866"/>
            <a:ext cx="838200" cy="390908"/>
            <a:chOff x="0" y="585597"/>
            <a:chExt cx="838200" cy="39090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FE56D3-CDFF-99C8-081E-21872711345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55D81439-E4CF-3498-4773-82E6A34DB949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56CB3B-27D6-0844-017F-CFA08F52311B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5E31CA-977D-9659-5E4D-1E4EC75ABA7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4385F2-2245-0F8C-C446-564E2DE5084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598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5386308-8E2B-C701-D9C5-CFF5B6D9F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8221F6-B30E-6574-4F98-77B2C490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6BEFF-E786-80CC-C462-EC9F1C9C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CF37-673E-EFC4-46AD-C8B8CC64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8A85-2B88-6B89-6CF8-4D396AB7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774E-879A-AA6A-5AEF-0FD775B9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F9B18A-4C13-213C-5ECD-7D00902A82F8}"/>
              </a:ext>
            </a:extLst>
          </p:cNvPr>
          <p:cNvSpPr/>
          <p:nvPr userDrawn="1"/>
        </p:nvSpPr>
        <p:spPr>
          <a:xfrm>
            <a:off x="3894421" y="21431"/>
            <a:ext cx="4460168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0DAC0-1D7C-425C-A3EA-189775AB00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A6FB34-FC21-998E-F2ED-B41CC15A4311}"/>
              </a:ext>
            </a:extLst>
          </p:cNvPr>
          <p:cNvSpPr/>
          <p:nvPr userDrawn="1"/>
        </p:nvSpPr>
        <p:spPr>
          <a:xfrm>
            <a:off x="-1" y="6808662"/>
            <a:ext cx="12249013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1E5DFC-83E6-86F2-21A3-C9353A831D94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6CDA0-D409-8B80-7C3D-EE78328F12C7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DCC3F2-36B2-C662-DECB-01503AFCAA9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8066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60D2230-4C54-C188-62C4-95CC76262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66CAA0-852B-2260-4E79-4DCDC5D3C474}"/>
              </a:ext>
            </a:extLst>
          </p:cNvPr>
          <p:cNvSpPr/>
          <p:nvPr userDrawn="1"/>
        </p:nvSpPr>
        <p:spPr>
          <a:xfrm>
            <a:off x="-38100" y="1690688"/>
            <a:ext cx="12230100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09984-B07C-717A-A1FC-A0212B12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6CC2-F4AE-C871-25CA-0693B8E51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4C4D5-028B-CF4F-DB83-2E7DAE145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ECB3-6230-1C4A-4271-8B1B329A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EBE9-6EE3-30E5-37E9-966CEBBA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42C9F-71DE-08A3-B2D8-60F040A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BACEB-C3CA-5C73-C1CD-7E28828923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2450C2-7E85-EAB2-8C8F-8B13B9657507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93644A-0A35-6B8C-F216-AC1945DFC79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806244-EF9A-642C-8573-A2BFA17DB33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53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169F28-4F60-04EA-2355-80F723258D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D3BD4A-F379-8CFF-EBD6-707DD0E7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9623-7488-E134-22F1-5329048E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D7D39-C4CD-9439-3408-FF0BFA1B1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50B8F-83C3-D985-5919-F1A3FDF4D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CF953-DD56-9B85-AB4B-B9C9F0FF0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25C81-2863-04F8-8182-D218BA27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521E1-8180-A360-8696-A84620A8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D6C59-8054-7190-9FD8-FAA59634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3B567-24C2-C088-6F75-913992BE2D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2B20C0-22D4-422D-2940-7F540F191BF7}"/>
              </a:ext>
            </a:extLst>
          </p:cNvPr>
          <p:cNvSpPr/>
          <p:nvPr userDrawn="1"/>
        </p:nvSpPr>
        <p:spPr>
          <a:xfrm>
            <a:off x="6764" y="342265"/>
            <a:ext cx="1026963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70257A-EF80-EF1A-EE95-68EB9FBC2F71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EA7E83-8757-44B8-B8ED-EFD855548FA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4A3-2F29-E99E-59AA-19FD2D71718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0199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A05E41-FECA-555C-4DA5-FBDABE88EA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EFDB3D2-BABB-4614-ACBD-74206D54EFA7}"/>
              </a:ext>
            </a:extLst>
          </p:cNvPr>
          <p:cNvGrpSpPr/>
          <p:nvPr userDrawn="1"/>
        </p:nvGrpSpPr>
        <p:grpSpPr>
          <a:xfrm flipH="1">
            <a:off x="8896479" y="6438899"/>
            <a:ext cx="3295521" cy="419101"/>
            <a:chOff x="0" y="6438899"/>
            <a:chExt cx="4425450" cy="4191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C9DBE5-42FF-593C-82CE-C4B2774E3AD0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D8516993-C2D5-28D4-6E6E-D3A5B19FD20F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B218D0-0E4A-6601-1430-D75D1D89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974" y="2766218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7DD1-72E8-53B4-A8B5-16105BC6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21DE3-618B-CDA6-C30A-1DB7F4E9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8125-E5E8-EEE2-D064-3848DBB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F13517-FB38-BE9B-5A77-235BBF8CE8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5FA5D2-1257-770C-1E2F-2CCA5238FD2A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9FA834-B150-3245-D347-588904243A5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EF11FA-4280-83FF-5E5F-70581310F2C4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166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80EC996-29B5-35CD-CAA8-09FAAB535A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4713261" y="1270"/>
            <a:ext cx="7112053" cy="1831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E085B5-6456-E991-6904-BB25D1005185}"/>
              </a:ext>
            </a:extLst>
          </p:cNvPr>
          <p:cNvSpPr/>
          <p:nvPr userDrawn="1"/>
        </p:nvSpPr>
        <p:spPr>
          <a:xfrm>
            <a:off x="-38099" y="0"/>
            <a:ext cx="4764088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5AF6C-3A58-DD89-B778-7C9B4E49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771969" cy="1600200"/>
          </a:xfrm>
        </p:spPr>
        <p:txBody>
          <a:bodyPr anchor="b">
            <a:normAutofit/>
          </a:bodyPr>
          <a:lstStyle>
            <a:lvl1pPr>
              <a:defRPr sz="28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0643-5DEF-0301-05FB-43BFE781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84E7D-D23B-8AA6-561F-6482F0A12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77196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D1C3-135E-09A0-2E54-EFBC9A5D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11F67-329D-954C-CD5C-1AA093EC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B87E-06D7-61E3-D9E0-49BF14B3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EA7C3-CAA4-9F46-F633-CAA69D61B6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D1F696-3383-CCD0-5F6F-4B9E89375262}"/>
              </a:ext>
            </a:extLst>
          </p:cNvPr>
          <p:cNvSpPr/>
          <p:nvPr userDrawn="1"/>
        </p:nvSpPr>
        <p:spPr>
          <a:xfrm rot="5400000">
            <a:off x="1324286" y="3399184"/>
            <a:ext cx="6858000" cy="596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DF8517-697A-D659-D645-CCC025297F18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8F6DD2-968A-9801-9B22-22DBD1C894E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835E16-0810-A050-7387-E04FC0CFD8C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0109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DE0F43-CB86-1C9B-53B1-54930B9BBD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7D5CF-8052-62A2-8652-9E5660A058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CEA865B-9359-931D-9136-36413785F784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C6828-16EB-91B9-7078-52ADFDC0F2F1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EA9D62-1A2E-5482-2A68-9FCEFEB913F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9613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6208AF-0FB5-0709-9E4A-86BB9C81B267}"/>
              </a:ext>
            </a:extLst>
          </p:cNvPr>
          <p:cNvSpPr/>
          <p:nvPr userDrawn="1"/>
        </p:nvSpPr>
        <p:spPr>
          <a:xfrm>
            <a:off x="-38100" y="0"/>
            <a:ext cx="12230100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6B25-0C92-A630-DD9E-0DC228627926}"/>
              </a:ext>
            </a:extLst>
          </p:cNvPr>
          <p:cNvGrpSpPr/>
          <p:nvPr userDrawn="1"/>
        </p:nvGrpSpPr>
        <p:grpSpPr>
          <a:xfrm>
            <a:off x="7180119" y="6473574"/>
            <a:ext cx="5011881" cy="390911"/>
            <a:chOff x="7180118" y="6489891"/>
            <a:chExt cx="5011881" cy="3909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51D9DD-D54B-BD6E-1FC0-1E96064A7DD4}"/>
                </a:ext>
              </a:extLst>
            </p:cNvPr>
            <p:cNvSpPr/>
            <p:nvPr userDrawn="1"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12D63A4-B45F-D7EE-07AE-ED4F2AA9FBF6}"/>
                </a:ext>
              </a:extLst>
            </p:cNvPr>
            <p:cNvSpPr/>
            <p:nvPr userDrawn="1"/>
          </p:nvSpPr>
          <p:spPr>
            <a:xfrm rot="10800000" flipV="1">
              <a:off x="7180118" y="6489895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E4DBBFF-D866-CE38-8CC8-48E42BA7EF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220" y="283589"/>
            <a:ext cx="1470825" cy="497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CA337-96B6-AF15-88CE-5A1B9B8EBDB6}"/>
              </a:ext>
            </a:extLst>
          </p:cNvPr>
          <p:cNvGrpSpPr/>
          <p:nvPr userDrawn="1"/>
        </p:nvGrpSpPr>
        <p:grpSpPr>
          <a:xfrm>
            <a:off x="-58882" y="0"/>
            <a:ext cx="2130820" cy="390908"/>
            <a:chOff x="-58882" y="0"/>
            <a:chExt cx="2130820" cy="3909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5327DB-3941-6535-2638-26DDF5148B23}"/>
                </a:ext>
              </a:extLst>
            </p:cNvPr>
            <p:cNvSpPr/>
            <p:nvPr userDrawn="1"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751988F2-DBDB-53FA-2E8B-DE674D6D2B6A}"/>
                </a:ext>
              </a:extLst>
            </p:cNvPr>
            <p:cNvSpPr/>
            <p:nvPr userDrawn="1"/>
          </p:nvSpPr>
          <p:spPr>
            <a:xfrm flipV="1">
              <a:off x="1858639" y="0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B451E3-7C30-F7E8-27F1-20A1711850CE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9E3A6-8792-EBEF-E21F-6506CA347F7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7814D-56F3-7C85-157F-E73DAB5F042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2828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957FA-0954-130C-016A-4BAA3351102F}"/>
              </a:ext>
            </a:extLst>
          </p:cNvPr>
          <p:cNvSpPr/>
          <p:nvPr userDrawn="1"/>
        </p:nvSpPr>
        <p:spPr>
          <a:xfrm rot="5400000">
            <a:off x="6073139" y="761174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5F1816-5F6B-7928-15B1-1910931B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781051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3350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AFB9-D289-5BB8-FC6E-3A98AE611BFD}"/>
              </a:ext>
            </a:extLst>
          </p:cNvPr>
          <p:cNvSpPr/>
          <p:nvPr userDrawn="1"/>
        </p:nvSpPr>
        <p:spPr>
          <a:xfrm rot="5400000">
            <a:off x="6079906" y="-6086095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C5E7F-48AB-BACC-5157-81B7026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781051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8661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2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E13ED-6077-A443-ABCC-AD2D7546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C33CC8-30FA-7D4F-B5FF-5CC190F93C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781150-1FB5-914F-8F90-3BA38EB3A9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Прямоугольник 20">
            <a:extLst>
              <a:ext uri="{FF2B5EF4-FFF2-40B4-BE49-F238E27FC236}">
                <a16:creationId xmlns:a16="http://schemas.microsoft.com/office/drawing/2014/main" id="{560EE6AF-71FA-A047-B579-B47A88109281}"/>
              </a:ext>
            </a:extLst>
          </p:cNvPr>
          <p:cNvSpPr/>
          <p:nvPr userDrawn="1"/>
        </p:nvSpPr>
        <p:spPr>
          <a:xfrm rot="5400000">
            <a:off x="6070760" y="551563"/>
            <a:ext cx="45719" cy="1170146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8502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20">
    <p:bg>
      <p:bgPr>
        <a:solidFill>
          <a:srgbClr val="4B47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AA9A-AEC4-6046-A3F2-5369021A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75A35-BAA4-3243-952D-99C48B834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781150-1FB5-914F-8F90-3BA38EB3A9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C836B4-5E2D-D94D-B92C-56626921C682}"/>
              </a:ext>
            </a:extLst>
          </p:cNvPr>
          <p:cNvCxnSpPr/>
          <p:nvPr userDrawn="1"/>
        </p:nvCxnSpPr>
        <p:spPr>
          <a:xfrm>
            <a:off x="-12700" y="10160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046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9975F-708A-F234-4722-AEB23434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7F26E-314A-B65E-03F9-0EADD49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2CC6-2915-3AF9-A194-796105577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959E7-45DE-4A2D-ACFD-0D8C8BBAB79F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C745-1356-0A9F-002D-66D467AF4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9A2B0-BC9C-678A-D6F9-6A0D62CAA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5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6" r:id="rId3"/>
    <p:sldLayoutId id="2147483662" r:id="rId4"/>
    <p:sldLayoutId id="2147483651" r:id="rId5"/>
    <p:sldLayoutId id="2147483649" r:id="rId6"/>
    <p:sldLayoutId id="2147483650" r:id="rId7"/>
    <p:sldLayoutId id="2147483652" r:id="rId8"/>
    <p:sldLayoutId id="2147483653" r:id="rId9"/>
    <p:sldLayoutId id="2147483654" r:id="rId10"/>
    <p:sldLayoutId id="2147483656" r:id="rId11"/>
    <p:sldLayoutId id="2147483655" r:id="rId12"/>
    <p:sldLayoutId id="2147483660" r:id="rId13"/>
    <p:sldLayoutId id="2147483657" r:id="rId14"/>
    <p:sldLayoutId id="2147483663" r:id="rId15"/>
    <p:sldLayoutId id="2147483667" r:id="rId16"/>
    <p:sldLayoutId id="214748366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hyperlink" Target="https://jjbs.wordpress.com/2018/03/30/kraaienest-in-de-boom/" TargetMode="External"/><Relationship Id="rId7" Type="http://schemas.openxmlformats.org/officeDocument/2006/relationships/image" Target="../media/image25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hyperlink" Target="mailto:ricky@gmail.com" TargetMode="Externa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6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9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0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1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5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1.sv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2B2362F-EF82-97D1-8085-902821FA1D5F}"/>
              </a:ext>
            </a:extLst>
          </p:cNvPr>
          <p:cNvSpPr txBox="1"/>
          <p:nvPr/>
        </p:nvSpPr>
        <p:spPr>
          <a:xfrm>
            <a:off x="3481411" y="3383801"/>
            <a:ext cx="594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000" b="1">
                <a:solidFill>
                  <a:schemeClr val="bg1"/>
                </a:solidFill>
              </a:rPr>
              <a:t>Project II (10%) – NoSQL </a:t>
            </a:r>
            <a:r>
              <a:rPr lang="en-MY" sz="2000" b="1" err="1">
                <a:solidFill>
                  <a:schemeClr val="bg1"/>
                </a:solidFill>
              </a:rPr>
              <a:t>MongoDD</a:t>
            </a:r>
            <a:endParaRPr lang="en-MY" sz="200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87E90E-A947-F2E4-F188-4C78E30FFB14}"/>
              </a:ext>
            </a:extLst>
          </p:cNvPr>
          <p:cNvSpPr txBox="1"/>
          <p:nvPr/>
        </p:nvSpPr>
        <p:spPr>
          <a:xfrm>
            <a:off x="3349340" y="2468302"/>
            <a:ext cx="5943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b="1" dirty="0">
                <a:solidFill>
                  <a:schemeClr val="bg1"/>
                </a:solidFill>
              </a:rPr>
              <a:t>SECP3623 - DATABASE PROGRAMMING</a:t>
            </a:r>
            <a:endParaRPr lang="en-MY" sz="2800" dirty="0">
              <a:solidFill>
                <a:schemeClr val="bg1"/>
              </a:solidFill>
            </a:endParaRPr>
          </a:p>
          <a:p>
            <a:pPr algn="ctr"/>
            <a:r>
              <a:rPr lang="en-MY" sz="2800" b="1" dirty="0">
                <a:solidFill>
                  <a:schemeClr val="bg1"/>
                </a:solidFill>
              </a:rPr>
              <a:t>2025/2026 - SEM 1</a:t>
            </a:r>
            <a:endParaRPr lang="en-MY" sz="2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A31FEC-C1AB-A4DF-DA31-FC4B7684A9DD}"/>
              </a:ext>
            </a:extLst>
          </p:cNvPr>
          <p:cNvSpPr txBox="1"/>
          <p:nvPr/>
        </p:nvSpPr>
        <p:spPr>
          <a:xfrm>
            <a:off x="2592028" y="1707711"/>
            <a:ext cx="7722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>
                <a:solidFill>
                  <a:schemeClr val="bg1"/>
                </a:solidFill>
              </a:rPr>
              <a:t>UNIVERSITI TEKNOLOGI MALAYSIA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FBF1DA-5BFF-1707-4D4A-FFFB821B0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127" y="806075"/>
            <a:ext cx="2139445" cy="72360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8526A73A-E833-94D8-3B96-626DBBC27FC5}"/>
              </a:ext>
            </a:extLst>
          </p:cNvPr>
          <p:cNvGrpSpPr/>
          <p:nvPr/>
        </p:nvGrpSpPr>
        <p:grpSpPr>
          <a:xfrm>
            <a:off x="243682" y="3008152"/>
            <a:ext cx="838200" cy="841694"/>
            <a:chOff x="0" y="585597"/>
            <a:chExt cx="838200" cy="390908"/>
          </a:xfrm>
          <a:solidFill>
            <a:schemeClr val="bg1">
              <a:lumMod val="65000"/>
            </a:schemeClr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F9D891E-647D-0389-6628-4EE6EB7D852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D91420ED-5903-A743-073E-ED4B56F92DD2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20E858A-4845-23C9-B443-2E55F05FAEF2}"/>
              </a:ext>
            </a:extLst>
          </p:cNvPr>
          <p:cNvGrpSpPr/>
          <p:nvPr/>
        </p:nvGrpSpPr>
        <p:grpSpPr>
          <a:xfrm>
            <a:off x="0" y="3008153"/>
            <a:ext cx="838200" cy="841694"/>
            <a:chOff x="0" y="585597"/>
            <a:chExt cx="838200" cy="390908"/>
          </a:xfrm>
          <a:solidFill>
            <a:schemeClr val="bg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AE28CBC-C49B-EEF2-721E-8E91D122E2BA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C51E1D26-9907-4A93-EEED-313B135BF054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0B02FD5-EB1B-0B91-AD16-E933188FD9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6513" y="6383329"/>
            <a:ext cx="2525487" cy="19006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11AF99-4926-2858-7547-4E76321CA805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-46838" y="6448292"/>
            <a:ext cx="9713351" cy="3006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3075173-C2A4-FF06-EBFE-C6AC8C1CA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126961"/>
              </p:ext>
            </p:extLst>
          </p:nvPr>
        </p:nvGraphicFramePr>
        <p:xfrm>
          <a:off x="3159388" y="4519417"/>
          <a:ext cx="5873219" cy="4628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1904679742"/>
                    </a:ext>
                  </a:extLst>
                </a:gridCol>
                <a:gridCol w="297919">
                  <a:extLst>
                    <a:ext uri="{9D8B030D-6E8A-4147-A177-3AD203B41FA5}">
                      <a16:colId xmlns:a16="http://schemas.microsoft.com/office/drawing/2014/main" val="1864084668"/>
                    </a:ext>
                  </a:extLst>
                </a:gridCol>
                <a:gridCol w="4630420">
                  <a:extLst>
                    <a:ext uri="{9D8B030D-6E8A-4147-A177-3AD203B41FA5}">
                      <a16:colId xmlns:a16="http://schemas.microsoft.com/office/drawing/2014/main" val="1159684547"/>
                    </a:ext>
                  </a:extLst>
                </a:gridCol>
              </a:tblGrid>
              <a:tr h="2314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: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 Lau Yee Wen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096366"/>
                  </a:ext>
                </a:extLst>
              </a:tr>
              <a:tr h="2314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Matric Id 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: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 A23CS0099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1041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D5A0796-DED2-82F3-1FA0-F52260D3D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871089"/>
              </p:ext>
            </p:extLst>
          </p:nvPr>
        </p:nvGraphicFramePr>
        <p:xfrm>
          <a:off x="3159389" y="5210619"/>
          <a:ext cx="5873219" cy="4628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1904679742"/>
                    </a:ext>
                  </a:extLst>
                </a:gridCol>
                <a:gridCol w="297919">
                  <a:extLst>
                    <a:ext uri="{9D8B030D-6E8A-4147-A177-3AD203B41FA5}">
                      <a16:colId xmlns:a16="http://schemas.microsoft.com/office/drawing/2014/main" val="1864084668"/>
                    </a:ext>
                  </a:extLst>
                </a:gridCol>
                <a:gridCol w="4630420">
                  <a:extLst>
                    <a:ext uri="{9D8B030D-6E8A-4147-A177-3AD203B41FA5}">
                      <a16:colId xmlns:a16="http://schemas.microsoft.com/office/drawing/2014/main" val="1159684547"/>
                    </a:ext>
                  </a:extLst>
                </a:gridCol>
              </a:tblGrid>
              <a:tr h="2314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: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 Lee Yin Shen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096366"/>
                  </a:ext>
                </a:extLst>
              </a:tr>
              <a:tr h="2314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Matric Id 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: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 A23CS0236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10410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97F0255-B87B-1D02-576A-CE154265A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314818"/>
              </p:ext>
            </p:extLst>
          </p:nvPr>
        </p:nvGraphicFramePr>
        <p:xfrm>
          <a:off x="3159389" y="5890432"/>
          <a:ext cx="5873219" cy="4628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1904679742"/>
                    </a:ext>
                  </a:extLst>
                </a:gridCol>
                <a:gridCol w="297919">
                  <a:extLst>
                    <a:ext uri="{9D8B030D-6E8A-4147-A177-3AD203B41FA5}">
                      <a16:colId xmlns:a16="http://schemas.microsoft.com/office/drawing/2014/main" val="1864084668"/>
                    </a:ext>
                  </a:extLst>
                </a:gridCol>
                <a:gridCol w="4630420">
                  <a:extLst>
                    <a:ext uri="{9D8B030D-6E8A-4147-A177-3AD203B41FA5}">
                      <a16:colId xmlns:a16="http://schemas.microsoft.com/office/drawing/2014/main" val="1159684547"/>
                    </a:ext>
                  </a:extLst>
                </a:gridCol>
              </a:tblGrid>
              <a:tr h="2314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: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 Poh Lok Yee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096366"/>
                  </a:ext>
                </a:extLst>
              </a:tr>
              <a:tr h="2314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Matric Id 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: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 A23CS0262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10410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10354B-37AA-23C1-FD6F-DFDFB21F1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249681"/>
              </p:ext>
            </p:extLst>
          </p:nvPr>
        </p:nvGraphicFramePr>
        <p:xfrm>
          <a:off x="3159388" y="3848874"/>
          <a:ext cx="5873219" cy="4600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1904679742"/>
                    </a:ext>
                  </a:extLst>
                </a:gridCol>
                <a:gridCol w="297919">
                  <a:extLst>
                    <a:ext uri="{9D8B030D-6E8A-4147-A177-3AD203B41FA5}">
                      <a16:colId xmlns:a16="http://schemas.microsoft.com/office/drawing/2014/main" val="1864084668"/>
                    </a:ext>
                  </a:extLst>
                </a:gridCol>
                <a:gridCol w="4630420">
                  <a:extLst>
                    <a:ext uri="{9D8B030D-6E8A-4147-A177-3AD203B41FA5}">
                      <a16:colId xmlns:a16="http://schemas.microsoft.com/office/drawing/2014/main" val="115968454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: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 Cheryl Cheong Kah Voon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cs typeface="Arial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096366"/>
                  </a:ext>
                </a:extLst>
              </a:tr>
              <a:tr h="2314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Matric Id 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200" kern="100">
                          <a:solidFill>
                            <a:schemeClr val="tx1"/>
                          </a:solidFill>
                          <a:effectLst/>
                        </a:rPr>
                        <a:t>: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100" kern="100">
                          <a:solidFill>
                            <a:schemeClr val="tx1"/>
                          </a:solidFill>
                          <a:effectLst/>
                          <a:latin typeface="Aptos"/>
                          <a:ea typeface="Aptos" panose="020B0004020202020204" pitchFamily="34" charset="0"/>
                          <a:cs typeface="Arial"/>
                        </a:rPr>
                        <a:t>A23CS0060</a:t>
                      </a:r>
                      <a:endParaRPr lang="en-MY" sz="11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104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540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D0E23-96B9-5B33-C4F6-4DBCE5F54F96}"/>
              </a:ext>
            </a:extLst>
          </p:cNvPr>
          <p:cNvSpPr txBox="1"/>
          <p:nvPr/>
        </p:nvSpPr>
        <p:spPr>
          <a:xfrm>
            <a:off x="3846417" y="5282395"/>
            <a:ext cx="4499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/>
              <a:t>Database Programming (SECP3623) - Project ​II</a:t>
            </a:r>
            <a:endParaRPr lang="en-MY" sz="1600" spc="3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02EFA-FD94-7D1F-B76C-45B63CEC7823}"/>
              </a:ext>
            </a:extLst>
          </p:cNvPr>
          <p:cNvSpPr txBox="1"/>
          <p:nvPr/>
        </p:nvSpPr>
        <p:spPr>
          <a:xfrm>
            <a:off x="3350106" y="4550403"/>
            <a:ext cx="5634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kern="0">
                <a:solidFill>
                  <a:srgbClr val="6C1D35"/>
                </a:solidFill>
              </a:rPr>
              <a:t>Event Booking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A5E36-46DF-4261-B2A9-84180659C6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149" y="599516"/>
            <a:ext cx="2249407" cy="7518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AB95FE-9FB6-3175-C6AD-6B6A256E7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429" y="6352942"/>
            <a:ext cx="2136771" cy="1608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D84345-6A84-954C-844D-3927E97993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3833" y="1538156"/>
            <a:ext cx="3364334" cy="311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46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0A1D4B-B8AB-E542-44C2-7821E42AFAE0}"/>
              </a:ext>
            </a:extLst>
          </p:cNvPr>
          <p:cNvSpPr txBox="1"/>
          <p:nvPr/>
        </p:nvSpPr>
        <p:spPr>
          <a:xfrm>
            <a:off x="4333159" y="1944076"/>
            <a:ext cx="768186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pc="300">
                <a:solidFill>
                  <a:schemeClr val="tx1">
                    <a:lumMod val="75000"/>
                    <a:lumOff val="25000"/>
                  </a:schemeClr>
                </a:solidFill>
                <a:ea typeface="Calibri"/>
                <a:cs typeface="Calibri"/>
              </a:rPr>
              <a:t>Allows participants to register and book events organized by different companies or brands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2FE14-4D31-9066-788E-550367FE7507}"/>
              </a:ext>
            </a:extLst>
          </p:cNvPr>
          <p:cNvSpPr txBox="1"/>
          <p:nvPr/>
        </p:nvSpPr>
        <p:spPr>
          <a:xfrm>
            <a:off x="4333157" y="1300897"/>
            <a:ext cx="594360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MY" sz="2400" b="1" spc="300">
                <a:solidFill>
                  <a:schemeClr val="tx1">
                    <a:lumMod val="75000"/>
                    <a:lumOff val="25000"/>
                  </a:schemeClr>
                </a:solidFill>
              </a:rPr>
              <a:t>Event Booking System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A2359B-FA47-8309-5FD5-D51DACB42789}"/>
              </a:ext>
            </a:extLst>
          </p:cNvPr>
          <p:cNvSpPr txBox="1"/>
          <p:nvPr/>
        </p:nvSpPr>
        <p:spPr>
          <a:xfrm>
            <a:off x="5138291" y="389557"/>
            <a:ext cx="3176758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 kern="0">
                <a:solidFill>
                  <a:srgbClr val="6C1D35"/>
                </a:solidFill>
              </a:rPr>
              <a:t>Introduction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84184C-BDA4-1EED-A843-A55D7EBB6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795" y="344422"/>
            <a:ext cx="2249407" cy="7518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719AA7-B70D-336C-73F5-A522B614B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714" y="6529906"/>
            <a:ext cx="2060121" cy="15503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BC7F27-4F90-296B-D41B-62FA9D80EDA4}"/>
              </a:ext>
            </a:extLst>
          </p:cNvPr>
          <p:cNvCxnSpPr>
            <a:cxnSpLocks/>
          </p:cNvCxnSpPr>
          <p:nvPr/>
        </p:nvCxnSpPr>
        <p:spPr>
          <a:xfrm>
            <a:off x="668595" y="6626873"/>
            <a:ext cx="10286999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BC96225-EF04-B05F-0B0A-8A1639584959}"/>
              </a:ext>
            </a:extLst>
          </p:cNvPr>
          <p:cNvSpPr txBox="1"/>
          <p:nvPr/>
        </p:nvSpPr>
        <p:spPr>
          <a:xfrm>
            <a:off x="4333157" y="2771921"/>
            <a:ext cx="7455720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pc="300">
                <a:solidFill>
                  <a:schemeClr val="tx1">
                    <a:lumMod val="75000"/>
                    <a:lumOff val="25000"/>
                  </a:schemeClr>
                </a:solidFill>
                <a:ea typeface="Calibri"/>
                <a:cs typeface="Calibri"/>
              </a:rPr>
              <a:t>manages event and organizer information, participant details, and booking records, including payment information</a:t>
            </a:r>
            <a:endParaRPr lang="en-MY" spc="300">
              <a:solidFill>
                <a:schemeClr val="tx1">
                  <a:lumMod val="75000"/>
                  <a:lumOff val="25000"/>
                </a:schemeClr>
              </a:solidFill>
              <a:ea typeface="Calibri"/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7FF9A76-D907-BB97-2BE5-D93CE46DFC28}"/>
              </a:ext>
            </a:extLst>
          </p:cNvPr>
          <p:cNvGrpSpPr/>
          <p:nvPr/>
        </p:nvGrpSpPr>
        <p:grpSpPr>
          <a:xfrm>
            <a:off x="4333157" y="2036991"/>
            <a:ext cx="207464" cy="206152"/>
            <a:chOff x="2411760" y="3708613"/>
            <a:chExt cx="206152" cy="20615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009C5A-2B76-C0A1-F793-92D333A134EE}"/>
                </a:ext>
              </a:extLst>
            </p:cNvPr>
            <p:cNvSpPr/>
            <p:nvPr/>
          </p:nvSpPr>
          <p:spPr>
            <a:xfrm>
              <a:off x="2411760" y="3708613"/>
              <a:ext cx="206152" cy="20615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Chevron 91">
              <a:extLst>
                <a:ext uri="{FF2B5EF4-FFF2-40B4-BE49-F238E27FC236}">
                  <a16:creationId xmlns:a16="http://schemas.microsoft.com/office/drawing/2014/main" id="{6FF08E95-E8D7-A51B-AA2E-85CD1283EC63}"/>
                </a:ext>
              </a:extLst>
            </p:cNvPr>
            <p:cNvSpPr/>
            <p:nvPr/>
          </p:nvSpPr>
          <p:spPr>
            <a:xfrm>
              <a:off x="2478836" y="3755880"/>
              <a:ext cx="72000" cy="108000"/>
            </a:xfrm>
            <a:prstGeom prst="chevron">
              <a:avLst>
                <a:gd name="adj" fmla="val 6522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ED08C5E-3A57-7BFA-7E2B-62DB0FCE4F3A}"/>
              </a:ext>
            </a:extLst>
          </p:cNvPr>
          <p:cNvGrpSpPr/>
          <p:nvPr/>
        </p:nvGrpSpPr>
        <p:grpSpPr>
          <a:xfrm>
            <a:off x="4332598" y="2864836"/>
            <a:ext cx="207464" cy="206152"/>
            <a:chOff x="2411760" y="3708613"/>
            <a:chExt cx="206152" cy="20615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D7014BE-440C-098C-FDF7-8C29C42CE04D}"/>
                </a:ext>
              </a:extLst>
            </p:cNvPr>
            <p:cNvSpPr/>
            <p:nvPr/>
          </p:nvSpPr>
          <p:spPr>
            <a:xfrm>
              <a:off x="2411760" y="3708613"/>
              <a:ext cx="206152" cy="20615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Chevron 91">
              <a:extLst>
                <a:ext uri="{FF2B5EF4-FFF2-40B4-BE49-F238E27FC236}">
                  <a16:creationId xmlns:a16="http://schemas.microsoft.com/office/drawing/2014/main" id="{B739E311-4502-B200-212E-E0BB0C1159A4}"/>
                </a:ext>
              </a:extLst>
            </p:cNvPr>
            <p:cNvSpPr/>
            <p:nvPr/>
          </p:nvSpPr>
          <p:spPr>
            <a:xfrm>
              <a:off x="2478836" y="3755880"/>
              <a:ext cx="72000" cy="108000"/>
            </a:xfrm>
            <a:prstGeom prst="chevron">
              <a:avLst>
                <a:gd name="adj" fmla="val 6522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B505524-799B-460B-AAE9-760963B5E1B0}"/>
              </a:ext>
            </a:extLst>
          </p:cNvPr>
          <p:cNvSpPr txBox="1"/>
          <p:nvPr/>
        </p:nvSpPr>
        <p:spPr>
          <a:xfrm>
            <a:off x="668595" y="3996968"/>
            <a:ext cx="594360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MY" sz="2400" b="1" spc="30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/>
                <a:cs typeface="Calibri" panose="020F0502020204030204"/>
              </a:rPr>
              <a:t>Why We Choose It?</a:t>
            </a:r>
            <a:endParaRPr lang="en-US" b="1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DAC710-1E79-55D5-DA07-25651FA8029B}"/>
              </a:ext>
            </a:extLst>
          </p:cNvPr>
          <p:cNvSpPr txBox="1"/>
          <p:nvPr/>
        </p:nvSpPr>
        <p:spPr>
          <a:xfrm>
            <a:off x="802818" y="4577508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000"/>
              <a:t>Involves flexible data structures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different event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multiple bookings for each participant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payment information</a:t>
            </a:r>
            <a:endParaRPr lang="en-MY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898E83-A8E0-0A2A-9015-DEAFC3B818D2}"/>
              </a:ext>
            </a:extLst>
          </p:cNvPr>
          <p:cNvSpPr txBox="1"/>
          <p:nvPr/>
        </p:nvSpPr>
        <p:spPr>
          <a:xfrm>
            <a:off x="6415550" y="4008274"/>
            <a:ext cx="190933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MY" sz="2400" b="1" spc="30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/>
                <a:cs typeface="Calibri" panose="020F0502020204030204"/>
              </a:rPr>
              <a:t>Objectives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023BBD-604B-8EEF-FB8D-4BEDD96703B0}"/>
              </a:ext>
            </a:extLst>
          </p:cNvPr>
          <p:cNvSpPr txBox="1"/>
          <p:nvPr/>
        </p:nvSpPr>
        <p:spPr>
          <a:xfrm>
            <a:off x="6176147" y="4577508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2000"/>
              <a:t>Design MongoDB backend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2000"/>
              <a:t>Perform CRUD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2000"/>
              <a:t>Perform advanced operation </a:t>
            </a:r>
            <a:br>
              <a:rPr lang="en-MY" sz="2000"/>
            </a:br>
            <a:r>
              <a:rPr lang="en-MY" sz="2000"/>
              <a:t>1)aggregation queries</a:t>
            </a:r>
            <a:br>
              <a:rPr lang="en-MY" sz="2000"/>
            </a:br>
            <a:r>
              <a:rPr lang="en-MY" sz="2000"/>
              <a:t>2)indexing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58941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98773A-5415-C408-A866-2B6074B2D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684" y="988108"/>
            <a:ext cx="9480006" cy="696291"/>
          </a:xfrm>
        </p:spPr>
        <p:txBody>
          <a:bodyPr>
            <a:normAutofit/>
          </a:bodyPr>
          <a:lstStyle/>
          <a:p>
            <a:r>
              <a:rPr lang="en-US" sz="2800"/>
              <a:t>Database: </a:t>
            </a:r>
            <a:r>
              <a:rPr lang="en-US" sz="2800" err="1"/>
              <a:t>Event_</a:t>
            </a:r>
            <a:r>
              <a:rPr lang="en-US" sz="2800"/>
              <a:t>Booking_System – 4 Collections</a:t>
            </a:r>
          </a:p>
        </p:txBody>
      </p:sp>
      <p:pic>
        <p:nvPicPr>
          <p:cNvPr id="21" name="Picture Placeholder 21">
            <a:extLst>
              <a:ext uri="{FF2B5EF4-FFF2-40B4-BE49-F238E27FC236}">
                <a16:creationId xmlns:a16="http://schemas.microsoft.com/office/drawing/2014/main" id="{17C64A0F-F807-4A5C-C707-A61351743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929" b="1929"/>
          <a:stretch/>
        </p:blipFill>
        <p:spPr>
          <a:xfrm>
            <a:off x="334442" y="2257564"/>
            <a:ext cx="2552808" cy="234491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00384DE-8BB0-8578-282C-6A8C124195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48" y="6560382"/>
            <a:ext cx="1943103" cy="14623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4770317-0E15-0830-D897-1BB163A96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82" y="1596988"/>
            <a:ext cx="572337" cy="671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2800" b="1">
                <a:solidFill>
                  <a:schemeClr val="bg1"/>
                </a:solidFill>
                <a:latin typeface="+mn-lt"/>
              </a:rPr>
              <a:t>01</a:t>
            </a:r>
            <a:endParaRPr lang="en-US" altLang="en-US" sz="28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7CA408-3990-5C89-617F-6331CECDAD2E}"/>
              </a:ext>
            </a:extLst>
          </p:cNvPr>
          <p:cNvSpPr txBox="1"/>
          <p:nvPr/>
        </p:nvSpPr>
        <p:spPr>
          <a:xfrm>
            <a:off x="328827" y="4798445"/>
            <a:ext cx="2552807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just"/>
            <a:r>
              <a:rPr lang="en-US" sz="140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Stores information about event organizers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1EC615-14BD-F5E2-FEEA-739A2501F30A}"/>
              </a:ext>
            </a:extLst>
          </p:cNvPr>
          <p:cNvSpPr txBox="1"/>
          <p:nvPr/>
        </p:nvSpPr>
        <p:spPr>
          <a:xfrm>
            <a:off x="679524" y="1830757"/>
            <a:ext cx="1363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</a:rPr>
              <a:t>Organizers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F3FE5F-7BEB-4E02-6532-B591E3A346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828" y="2257563"/>
            <a:ext cx="2557323" cy="2363209"/>
          </a:xfrm>
          <a:prstGeom prst="rect">
            <a:avLst/>
          </a:prstGeom>
        </p:spPr>
      </p:pic>
      <p:pic>
        <p:nvPicPr>
          <p:cNvPr id="28" name="Picture Placeholder 21">
            <a:extLst>
              <a:ext uri="{FF2B5EF4-FFF2-40B4-BE49-F238E27FC236}">
                <a16:creationId xmlns:a16="http://schemas.microsoft.com/office/drawing/2014/main" id="{34EF0149-A560-D15D-E93F-D668434A5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929" b="1929"/>
          <a:stretch/>
        </p:blipFill>
        <p:spPr>
          <a:xfrm>
            <a:off x="3291002" y="2243345"/>
            <a:ext cx="2552808" cy="2344915"/>
          </a:xfrm>
          <a:prstGeom prst="rect">
            <a:avLst/>
          </a:prstGeom>
        </p:spPr>
      </p:pic>
      <p:pic>
        <p:nvPicPr>
          <p:cNvPr id="29" name="Picture Placeholder 21">
            <a:extLst>
              <a:ext uri="{FF2B5EF4-FFF2-40B4-BE49-F238E27FC236}">
                <a16:creationId xmlns:a16="http://schemas.microsoft.com/office/drawing/2014/main" id="{0E2CA4CA-339B-80A0-AAC2-7C0F39DA3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929" b="1929"/>
          <a:stretch/>
        </p:blipFill>
        <p:spPr>
          <a:xfrm>
            <a:off x="6252104" y="2243344"/>
            <a:ext cx="2552808" cy="2344915"/>
          </a:xfrm>
          <a:prstGeom prst="rect">
            <a:avLst/>
          </a:prstGeom>
        </p:spPr>
      </p:pic>
      <p:pic>
        <p:nvPicPr>
          <p:cNvPr id="32" name="Picture Placeholder 21">
            <a:extLst>
              <a:ext uri="{FF2B5EF4-FFF2-40B4-BE49-F238E27FC236}">
                <a16:creationId xmlns:a16="http://schemas.microsoft.com/office/drawing/2014/main" id="{28006440-4869-CB64-26A9-A06230B42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929" b="1929"/>
          <a:stretch/>
        </p:blipFill>
        <p:spPr>
          <a:xfrm>
            <a:off x="9213206" y="2243343"/>
            <a:ext cx="2552808" cy="234491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0BA6A14-63A4-035E-ACA2-300431413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913" y="1594035"/>
            <a:ext cx="572337" cy="671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2800" b="1">
                <a:solidFill>
                  <a:schemeClr val="bg1"/>
                </a:solidFill>
                <a:latin typeface="+mn-lt"/>
              </a:rPr>
              <a:t>02</a:t>
            </a:r>
            <a:endParaRPr lang="en-US" altLang="en-US" sz="28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0877AE-0D5D-E1A3-4A0F-C2EC0350FA5A}"/>
              </a:ext>
            </a:extLst>
          </p:cNvPr>
          <p:cNvSpPr txBox="1"/>
          <p:nvPr/>
        </p:nvSpPr>
        <p:spPr>
          <a:xfrm>
            <a:off x="3291002" y="4824990"/>
            <a:ext cx="2078817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Contains details of event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60E2CE-1D7F-13AC-FCF4-6701A754AABD}"/>
              </a:ext>
            </a:extLst>
          </p:cNvPr>
          <p:cNvSpPr txBox="1"/>
          <p:nvPr/>
        </p:nvSpPr>
        <p:spPr>
          <a:xfrm>
            <a:off x="3764138" y="1830757"/>
            <a:ext cx="1044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</a:rPr>
              <a:t>Events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05B4416-83E8-3189-FB57-21317BB02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468" y="1596988"/>
            <a:ext cx="572337" cy="671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2800" b="1">
                <a:solidFill>
                  <a:schemeClr val="bg1"/>
                </a:solidFill>
                <a:latin typeface="+mn-lt"/>
              </a:rPr>
              <a:t>03</a:t>
            </a:r>
            <a:endParaRPr lang="en-US" altLang="en-US" sz="28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8A4C18-1EAB-AA7D-ABAD-8871E7584C39}"/>
              </a:ext>
            </a:extLst>
          </p:cNvPr>
          <p:cNvSpPr txBox="1"/>
          <p:nvPr/>
        </p:nvSpPr>
        <p:spPr>
          <a:xfrm>
            <a:off x="6252103" y="4736889"/>
            <a:ext cx="2571013" cy="95410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just"/>
            <a:r>
              <a:rPr lang="en-US" sz="140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Represents users who register for events, including their personal information and the events they have booked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455FF6-D2F4-4A34-3EA9-ED5777E70A9F}"/>
              </a:ext>
            </a:extLst>
          </p:cNvPr>
          <p:cNvSpPr txBox="1"/>
          <p:nvPr/>
        </p:nvSpPr>
        <p:spPr>
          <a:xfrm>
            <a:off x="6609899" y="1818281"/>
            <a:ext cx="1628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</a:rPr>
              <a:t>Participants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BC536F2-6364-EF74-738E-9A2F88A7A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0229" y="1594035"/>
            <a:ext cx="572337" cy="671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2800" b="1">
                <a:solidFill>
                  <a:schemeClr val="bg1"/>
                </a:solidFill>
                <a:latin typeface="+mn-lt"/>
              </a:rPr>
              <a:t>04</a:t>
            </a:r>
            <a:endParaRPr lang="en-US" altLang="en-US" sz="28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CA7614-7482-0AF9-C0C5-4069F0AA1D74}"/>
              </a:ext>
            </a:extLst>
          </p:cNvPr>
          <p:cNvSpPr txBox="1"/>
          <p:nvPr/>
        </p:nvSpPr>
        <p:spPr>
          <a:xfrm>
            <a:off x="9213205" y="4762427"/>
            <a:ext cx="2552807" cy="73866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just"/>
            <a:r>
              <a:rPr lang="en-US" sz="1400">
                <a:solidFill>
                  <a:schemeClr val="bg1"/>
                </a:solidFill>
                <a:ea typeface="Roboto Condensed Light" panose="02000000000000000000" pitchFamily="2" charset="0"/>
                <a:cs typeface="Roboto Condensed Light" panose="02000000000000000000" pitchFamily="2" charset="0"/>
              </a:rPr>
              <a:t>Tracks participant bookings for events and includes payment details along with booking status.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415B40-BD41-7167-972A-517C62FBB9B1}"/>
              </a:ext>
            </a:extLst>
          </p:cNvPr>
          <p:cNvSpPr txBox="1"/>
          <p:nvPr/>
        </p:nvSpPr>
        <p:spPr>
          <a:xfrm>
            <a:off x="9540166" y="1801399"/>
            <a:ext cx="1318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bg1"/>
                </a:solidFill>
              </a:rPr>
              <a:t>Bookings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30E388F8-2811-49FA-382A-F22F3CD2F8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2265" y="2243344"/>
            <a:ext cx="2571013" cy="234491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7C2AEC5-AD74-ADB4-FDAE-8A49BBE0F2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9512" y="2230867"/>
            <a:ext cx="2571013" cy="236536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7AC972F-2350-7F94-A2C2-D4D968C161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6228" y="2241158"/>
            <a:ext cx="2559786" cy="235690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18B71E7B-D78A-209B-C02A-ADFF8F66BF3D}"/>
              </a:ext>
            </a:extLst>
          </p:cNvPr>
          <p:cNvSpPr txBox="1"/>
          <p:nvPr/>
        </p:nvSpPr>
        <p:spPr>
          <a:xfrm>
            <a:off x="453684" y="291259"/>
            <a:ext cx="455427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 kern="0">
                <a:solidFill>
                  <a:srgbClr val="6C1D35"/>
                </a:solidFill>
              </a:rPr>
              <a:t>NoSQL Modelling</a:t>
            </a:r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3F17021-770F-464A-A8A9-F935A70F03A3}"/>
              </a:ext>
            </a:extLst>
          </p:cNvPr>
          <p:cNvSpPr/>
          <p:nvPr/>
        </p:nvSpPr>
        <p:spPr>
          <a:xfrm>
            <a:off x="230482" y="5690996"/>
            <a:ext cx="2571013" cy="67185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/>
              <a:t>Data Type Used:</a:t>
            </a:r>
          </a:p>
          <a:p>
            <a:pPr algn="just"/>
            <a:r>
              <a:rPr lang="en-US" sz="1400"/>
              <a:t>String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78ED6AF-8D1B-5F55-3EE9-53D5D3698CBD}"/>
              </a:ext>
            </a:extLst>
          </p:cNvPr>
          <p:cNvSpPr/>
          <p:nvPr/>
        </p:nvSpPr>
        <p:spPr>
          <a:xfrm>
            <a:off x="3239948" y="5690996"/>
            <a:ext cx="2571013" cy="67185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/>
              <a:t>Data Type Used:</a:t>
            </a:r>
          </a:p>
          <a:p>
            <a:pPr algn="just"/>
            <a:r>
              <a:rPr lang="en-US" sz="1400"/>
              <a:t>String, Number, Date, Array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9CE468D-D514-E6F5-F873-2C042F141781}"/>
              </a:ext>
            </a:extLst>
          </p:cNvPr>
          <p:cNvSpPr/>
          <p:nvPr/>
        </p:nvSpPr>
        <p:spPr>
          <a:xfrm>
            <a:off x="6233899" y="5690996"/>
            <a:ext cx="2571013" cy="67185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/>
              <a:t>Data Type Used:</a:t>
            </a:r>
          </a:p>
          <a:p>
            <a:pPr algn="just"/>
            <a:r>
              <a:rPr lang="en-US" sz="1400"/>
              <a:t>String, Number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78CB3C3-0C00-9EA6-6E02-DD9963BA9345}"/>
              </a:ext>
            </a:extLst>
          </p:cNvPr>
          <p:cNvSpPr/>
          <p:nvPr/>
        </p:nvSpPr>
        <p:spPr>
          <a:xfrm>
            <a:off x="9261569" y="5665453"/>
            <a:ext cx="2571013" cy="67185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/>
              <a:t>Data Type Used:</a:t>
            </a:r>
          </a:p>
          <a:p>
            <a:pPr algn="just"/>
            <a:r>
              <a:rPr lang="en-US" sz="1400"/>
              <a:t>String, Number, Date, Object</a:t>
            </a:r>
          </a:p>
        </p:txBody>
      </p:sp>
    </p:spTree>
    <p:extLst>
      <p:ext uri="{BB962C8B-B14F-4D97-AF65-F5344CB8AC3E}">
        <p14:creationId xmlns:p14="http://schemas.microsoft.com/office/powerpoint/2010/main" val="1881555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3" grpId="0"/>
      <p:bldP spid="40" grpId="0"/>
      <p:bldP spid="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A6896CFD-2A25-C02C-DFD9-CBB8D6779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875031"/>
            <a:ext cx="8966200" cy="679255"/>
          </a:xfrm>
        </p:spPr>
        <p:txBody>
          <a:bodyPr/>
          <a:lstStyle/>
          <a:p>
            <a:r>
              <a:rPr lang="en-US"/>
              <a:t>Embedding               vs               Referencing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BB93CE-FE44-B264-B29B-62D7A4855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018" y="6594272"/>
            <a:ext cx="1951264" cy="14684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54B8768-5D45-7255-7E99-5CABC2CA1519}"/>
              </a:ext>
            </a:extLst>
          </p:cNvPr>
          <p:cNvGrpSpPr/>
          <p:nvPr/>
        </p:nvGrpSpPr>
        <p:grpSpPr>
          <a:xfrm>
            <a:off x="595444" y="1802835"/>
            <a:ext cx="364861" cy="365806"/>
            <a:chOff x="2411760" y="3708613"/>
            <a:chExt cx="206152" cy="20615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1A53A0C-32A1-4D80-21EF-D3205CDC20C4}"/>
                </a:ext>
              </a:extLst>
            </p:cNvPr>
            <p:cNvSpPr/>
            <p:nvPr/>
          </p:nvSpPr>
          <p:spPr>
            <a:xfrm>
              <a:off x="2411760" y="3708613"/>
              <a:ext cx="206152" cy="20615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" name="Chevron 91">
              <a:extLst>
                <a:ext uri="{FF2B5EF4-FFF2-40B4-BE49-F238E27FC236}">
                  <a16:creationId xmlns:a16="http://schemas.microsoft.com/office/drawing/2014/main" id="{024EF9C8-D22F-1C12-411E-1939227765C7}"/>
                </a:ext>
              </a:extLst>
            </p:cNvPr>
            <p:cNvSpPr/>
            <p:nvPr/>
          </p:nvSpPr>
          <p:spPr>
            <a:xfrm>
              <a:off x="2478836" y="3755880"/>
              <a:ext cx="72000" cy="108000"/>
            </a:xfrm>
            <a:prstGeom prst="chevron">
              <a:avLst>
                <a:gd name="adj" fmla="val 6522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5F755C-A60D-8726-B694-5FD8610502A4}"/>
              </a:ext>
            </a:extLst>
          </p:cNvPr>
          <p:cNvSpPr txBox="1"/>
          <p:nvPr/>
        </p:nvSpPr>
        <p:spPr>
          <a:xfrm>
            <a:off x="1018060" y="1799625"/>
            <a:ext cx="4397220" cy="365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3000"/>
              </a:lnSpc>
              <a:spcAft>
                <a:spcPts val="25"/>
              </a:spcAft>
            </a:pPr>
            <a:r>
              <a:rPr lang="en-MY" sz="18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Stores related data directly inside a document </a:t>
            </a:r>
            <a:endParaRPr lang="en-MY" sz="1600" kern="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4D81AA-05FA-88C3-B5A3-DB39E5D0CE9D}"/>
              </a:ext>
            </a:extLst>
          </p:cNvPr>
          <p:cNvGrpSpPr/>
          <p:nvPr/>
        </p:nvGrpSpPr>
        <p:grpSpPr>
          <a:xfrm>
            <a:off x="6354106" y="1802835"/>
            <a:ext cx="364861" cy="365806"/>
            <a:chOff x="2411760" y="3708613"/>
            <a:chExt cx="206152" cy="20615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09330B4-ED70-834E-08CC-E95E6E61EDE3}"/>
                </a:ext>
              </a:extLst>
            </p:cNvPr>
            <p:cNvSpPr/>
            <p:nvPr/>
          </p:nvSpPr>
          <p:spPr>
            <a:xfrm>
              <a:off x="2411760" y="3708613"/>
              <a:ext cx="206152" cy="20615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Chevron 91">
              <a:extLst>
                <a:ext uri="{FF2B5EF4-FFF2-40B4-BE49-F238E27FC236}">
                  <a16:creationId xmlns:a16="http://schemas.microsoft.com/office/drawing/2014/main" id="{EEA0F027-6550-C127-FA55-9C48344753C9}"/>
                </a:ext>
              </a:extLst>
            </p:cNvPr>
            <p:cNvSpPr/>
            <p:nvPr/>
          </p:nvSpPr>
          <p:spPr>
            <a:xfrm>
              <a:off x="2478836" y="3755880"/>
              <a:ext cx="72000" cy="108000"/>
            </a:xfrm>
            <a:prstGeom prst="chevron">
              <a:avLst>
                <a:gd name="adj" fmla="val 6522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05AE4C6-ED81-2C1F-9EE7-E4025931B56C}"/>
              </a:ext>
            </a:extLst>
          </p:cNvPr>
          <p:cNvSpPr txBox="1"/>
          <p:nvPr/>
        </p:nvSpPr>
        <p:spPr>
          <a:xfrm>
            <a:off x="6776721" y="1799625"/>
            <a:ext cx="4701119" cy="645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3000"/>
              </a:lnSpc>
              <a:spcAft>
                <a:spcPts val="25"/>
              </a:spcAft>
            </a:pPr>
            <a:r>
              <a:rPr lang="en-MY" sz="18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Links documents across collections using unique identifiers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B342F89-C95E-CF9F-9AC3-4D185221E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865" y="2911755"/>
            <a:ext cx="3558213" cy="300160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82AF7B2-158A-A73B-83DB-083256DEA596}"/>
              </a:ext>
            </a:extLst>
          </p:cNvPr>
          <p:cNvSpPr txBox="1"/>
          <p:nvPr/>
        </p:nvSpPr>
        <p:spPr>
          <a:xfrm>
            <a:off x="541520" y="4277185"/>
            <a:ext cx="3031070" cy="1507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 algn="just">
              <a:lnSpc>
                <a:spcPct val="103000"/>
              </a:lnSpc>
              <a:spcAft>
                <a:spcPts val="25"/>
              </a:spcAft>
              <a:buNone/>
            </a:pPr>
            <a:r>
              <a:rPr lang="en-MY" sz="18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Used for the payment information within each booking, keeping details in a single document for easier access.</a:t>
            </a:r>
            <a:endParaRPr lang="en-MY" sz="1600" kern="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4F7B23-5B38-300F-E5BA-6818FEEA4EFC}"/>
              </a:ext>
            </a:extLst>
          </p:cNvPr>
          <p:cNvSpPr txBox="1"/>
          <p:nvPr/>
        </p:nvSpPr>
        <p:spPr>
          <a:xfrm>
            <a:off x="8145509" y="2911755"/>
            <a:ext cx="3248241" cy="1216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 algn="just">
              <a:lnSpc>
                <a:spcPct val="103000"/>
              </a:lnSpc>
              <a:spcAft>
                <a:spcPts val="25"/>
              </a:spcAft>
              <a:buNone/>
            </a:pPr>
            <a:r>
              <a:rPr lang="en-US" sz="18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Applied in Bookings collection using </a:t>
            </a:r>
            <a:r>
              <a:rPr lang="en-US" sz="1800" kern="1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participantId</a:t>
            </a:r>
            <a:r>
              <a:rPr lang="en-US" sz="18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and </a:t>
            </a:r>
            <a:r>
              <a:rPr lang="en-US" sz="1800" kern="10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eventId</a:t>
            </a:r>
            <a:r>
              <a:rPr lang="en-US" sz="1800" kern="1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to link each booking to a participant and an event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93CDD7-D464-6FBD-07FA-F3B993AC83EE}"/>
              </a:ext>
            </a:extLst>
          </p:cNvPr>
          <p:cNvSpPr/>
          <p:nvPr/>
        </p:nvSpPr>
        <p:spPr>
          <a:xfrm>
            <a:off x="4148711" y="4412556"/>
            <a:ext cx="2451539" cy="1236403"/>
          </a:xfrm>
          <a:prstGeom prst="rect">
            <a:avLst/>
          </a:prstGeom>
          <a:noFill/>
          <a:ln w="38100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MY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5F821C-79D6-F26B-A439-8CFDE9D7EF93}"/>
              </a:ext>
            </a:extLst>
          </p:cNvPr>
          <p:cNvSpPr/>
          <p:nvPr/>
        </p:nvSpPr>
        <p:spPr>
          <a:xfrm>
            <a:off x="4148711" y="3126355"/>
            <a:ext cx="3450367" cy="819889"/>
          </a:xfrm>
          <a:prstGeom prst="rect">
            <a:avLst/>
          </a:prstGeom>
          <a:noFill/>
          <a:ln w="38100" cap="flat" cmpd="sng" algn="ctr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MY"/>
          </a:p>
        </p:txBody>
      </p:sp>
      <p:sp>
        <p:nvSpPr>
          <p:cNvPr id="28" name="Shape 2920">
            <a:extLst>
              <a:ext uri="{FF2B5EF4-FFF2-40B4-BE49-F238E27FC236}">
                <a16:creationId xmlns:a16="http://schemas.microsoft.com/office/drawing/2014/main" id="{92C9A66B-348F-CF7E-029E-A6EA5677F361}"/>
              </a:ext>
            </a:extLst>
          </p:cNvPr>
          <p:cNvSpPr/>
          <p:nvPr/>
        </p:nvSpPr>
        <p:spPr>
          <a:xfrm>
            <a:off x="7734101" y="3374035"/>
            <a:ext cx="279328" cy="19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9142"/>
                </a:moveTo>
                <a:lnTo>
                  <a:pt x="14727" y="12960"/>
                </a:lnTo>
                <a:lnTo>
                  <a:pt x="1964" y="12960"/>
                </a:lnTo>
                <a:cubicBezTo>
                  <a:pt x="1421" y="12960"/>
                  <a:pt x="982" y="12316"/>
                  <a:pt x="982" y="11520"/>
                </a:cubicBezTo>
                <a:lnTo>
                  <a:pt x="982" y="10080"/>
                </a:lnTo>
                <a:cubicBezTo>
                  <a:pt x="982" y="9285"/>
                  <a:pt x="1421" y="8640"/>
                  <a:pt x="1964" y="8640"/>
                </a:cubicBezTo>
                <a:lnTo>
                  <a:pt x="14727" y="8640"/>
                </a:lnTo>
                <a:lnTo>
                  <a:pt x="14727" y="2458"/>
                </a:lnTo>
                <a:lnTo>
                  <a:pt x="20415" y="10800"/>
                </a:lnTo>
                <a:cubicBezTo>
                  <a:pt x="20415" y="10800"/>
                  <a:pt x="14727" y="19142"/>
                  <a:pt x="14727" y="19142"/>
                </a:cubicBezTo>
                <a:close/>
                <a:moveTo>
                  <a:pt x="21456" y="10291"/>
                </a:moveTo>
                <a:lnTo>
                  <a:pt x="14584" y="212"/>
                </a:lnTo>
                <a:cubicBezTo>
                  <a:pt x="14495" y="81"/>
                  <a:pt x="14372" y="0"/>
                  <a:pt x="14236" y="0"/>
                </a:cubicBezTo>
                <a:cubicBezTo>
                  <a:pt x="13965" y="0"/>
                  <a:pt x="13745" y="322"/>
                  <a:pt x="13745" y="720"/>
                </a:cubicBezTo>
                <a:lnTo>
                  <a:pt x="13745" y="7200"/>
                </a:lnTo>
                <a:lnTo>
                  <a:pt x="1964" y="7200"/>
                </a:lnTo>
                <a:cubicBezTo>
                  <a:pt x="879" y="7200"/>
                  <a:pt x="0" y="8490"/>
                  <a:pt x="0" y="10080"/>
                </a:cubicBezTo>
                <a:lnTo>
                  <a:pt x="0" y="11520"/>
                </a:lnTo>
                <a:cubicBezTo>
                  <a:pt x="0" y="13110"/>
                  <a:pt x="879" y="14400"/>
                  <a:pt x="1964" y="14400"/>
                </a:cubicBezTo>
                <a:lnTo>
                  <a:pt x="13745" y="14400"/>
                </a:lnTo>
                <a:lnTo>
                  <a:pt x="13745" y="20880"/>
                </a:lnTo>
                <a:cubicBezTo>
                  <a:pt x="13745" y="21278"/>
                  <a:pt x="13965" y="21600"/>
                  <a:pt x="14236" y="21600"/>
                </a:cubicBezTo>
                <a:cubicBezTo>
                  <a:pt x="14372" y="21600"/>
                  <a:pt x="14495" y="21520"/>
                  <a:pt x="14583" y="21389"/>
                </a:cubicBezTo>
                <a:lnTo>
                  <a:pt x="21456" y="11310"/>
                </a:lnTo>
                <a:cubicBezTo>
                  <a:pt x="21545" y="11180"/>
                  <a:pt x="21600" y="11000"/>
                  <a:pt x="21600" y="10800"/>
                </a:cubicBezTo>
                <a:cubicBezTo>
                  <a:pt x="21600" y="10601"/>
                  <a:pt x="21545" y="10421"/>
                  <a:pt x="21456" y="10291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9" name="Shape 2920">
            <a:extLst>
              <a:ext uri="{FF2B5EF4-FFF2-40B4-BE49-F238E27FC236}">
                <a16:creationId xmlns:a16="http://schemas.microsoft.com/office/drawing/2014/main" id="{9AF25B9C-CAE1-F25B-4757-55369DA0CE7A}"/>
              </a:ext>
            </a:extLst>
          </p:cNvPr>
          <p:cNvSpPr/>
          <p:nvPr/>
        </p:nvSpPr>
        <p:spPr>
          <a:xfrm rot="10800000">
            <a:off x="3707614" y="4935531"/>
            <a:ext cx="279328" cy="1904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9142"/>
                </a:moveTo>
                <a:lnTo>
                  <a:pt x="14727" y="12960"/>
                </a:lnTo>
                <a:lnTo>
                  <a:pt x="1964" y="12960"/>
                </a:lnTo>
                <a:cubicBezTo>
                  <a:pt x="1421" y="12960"/>
                  <a:pt x="982" y="12316"/>
                  <a:pt x="982" y="11520"/>
                </a:cubicBezTo>
                <a:lnTo>
                  <a:pt x="982" y="10080"/>
                </a:lnTo>
                <a:cubicBezTo>
                  <a:pt x="982" y="9285"/>
                  <a:pt x="1421" y="8640"/>
                  <a:pt x="1964" y="8640"/>
                </a:cubicBezTo>
                <a:lnTo>
                  <a:pt x="14727" y="8640"/>
                </a:lnTo>
                <a:lnTo>
                  <a:pt x="14727" y="2458"/>
                </a:lnTo>
                <a:lnTo>
                  <a:pt x="20415" y="10800"/>
                </a:lnTo>
                <a:cubicBezTo>
                  <a:pt x="20415" y="10800"/>
                  <a:pt x="14727" y="19142"/>
                  <a:pt x="14727" y="19142"/>
                </a:cubicBezTo>
                <a:close/>
                <a:moveTo>
                  <a:pt x="21456" y="10291"/>
                </a:moveTo>
                <a:lnTo>
                  <a:pt x="14584" y="212"/>
                </a:lnTo>
                <a:cubicBezTo>
                  <a:pt x="14495" y="81"/>
                  <a:pt x="14372" y="0"/>
                  <a:pt x="14236" y="0"/>
                </a:cubicBezTo>
                <a:cubicBezTo>
                  <a:pt x="13965" y="0"/>
                  <a:pt x="13745" y="322"/>
                  <a:pt x="13745" y="720"/>
                </a:cubicBezTo>
                <a:lnTo>
                  <a:pt x="13745" y="7200"/>
                </a:lnTo>
                <a:lnTo>
                  <a:pt x="1964" y="7200"/>
                </a:lnTo>
                <a:cubicBezTo>
                  <a:pt x="879" y="7200"/>
                  <a:pt x="0" y="8490"/>
                  <a:pt x="0" y="10080"/>
                </a:cubicBezTo>
                <a:lnTo>
                  <a:pt x="0" y="11520"/>
                </a:lnTo>
                <a:cubicBezTo>
                  <a:pt x="0" y="13110"/>
                  <a:pt x="879" y="14400"/>
                  <a:pt x="1964" y="14400"/>
                </a:cubicBezTo>
                <a:lnTo>
                  <a:pt x="13745" y="14400"/>
                </a:lnTo>
                <a:lnTo>
                  <a:pt x="13745" y="20880"/>
                </a:lnTo>
                <a:cubicBezTo>
                  <a:pt x="13745" y="21278"/>
                  <a:pt x="13965" y="21600"/>
                  <a:pt x="14236" y="21600"/>
                </a:cubicBezTo>
                <a:cubicBezTo>
                  <a:pt x="14372" y="21600"/>
                  <a:pt x="14495" y="21520"/>
                  <a:pt x="14583" y="21389"/>
                </a:cubicBezTo>
                <a:lnTo>
                  <a:pt x="21456" y="11310"/>
                </a:lnTo>
                <a:cubicBezTo>
                  <a:pt x="21545" y="11180"/>
                  <a:pt x="21600" y="11000"/>
                  <a:pt x="21600" y="10800"/>
                </a:cubicBezTo>
                <a:cubicBezTo>
                  <a:pt x="21600" y="10601"/>
                  <a:pt x="21545" y="10421"/>
                  <a:pt x="21456" y="10291"/>
                </a:cubicBezTo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44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57AE2-E905-2B09-75B9-D5DBE8D4B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995E75D0-42F9-249D-3342-E22F9291F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910" y="1221400"/>
            <a:ext cx="5124993" cy="5303820"/>
          </a:xfrm>
          <a:prstGeom prst="rect">
            <a:avLst/>
          </a:prstGeom>
        </p:spPr>
      </p:pic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EEF9EBD-EC14-CB9B-C04A-68F681F097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-129" y="5655671"/>
            <a:ext cx="5427603" cy="1210674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147FB8AD-BC51-0A64-8442-2BAA1C9221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11863182" y="4720709"/>
            <a:ext cx="327041" cy="1743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8D0D4A-4E9D-3554-231F-4B52818ADCB7}"/>
              </a:ext>
            </a:extLst>
          </p:cNvPr>
          <p:cNvSpPr txBox="1"/>
          <p:nvPr/>
        </p:nvSpPr>
        <p:spPr>
          <a:xfrm>
            <a:off x="489756" y="1459658"/>
            <a:ext cx="6345687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kern="0">
                <a:solidFill>
                  <a:srgbClr val="6C1D35"/>
                </a:solidFill>
                <a:latin typeface="Calibri"/>
                <a:ea typeface="Calibri"/>
                <a:cs typeface="Calibri"/>
              </a:rPr>
              <a:t>Insert Operations (CREATE)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FBCD4A-96B7-814E-CEFA-16337F980433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CRUD Operations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873960F-4DBD-F3E8-D603-364E196BD68B}"/>
              </a:ext>
            </a:extLst>
          </p:cNvPr>
          <p:cNvCxnSpPr/>
          <p:nvPr/>
        </p:nvCxnSpPr>
        <p:spPr>
          <a:xfrm flipV="1">
            <a:off x="312962" y="1205592"/>
            <a:ext cx="11579679" cy="1905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8DB0A5-CCAF-10D7-9C14-14F0E2CC560E}"/>
              </a:ext>
            </a:extLst>
          </p:cNvPr>
          <p:cNvCxnSpPr>
            <a:cxnSpLocks/>
          </p:cNvCxnSpPr>
          <p:nvPr/>
        </p:nvCxnSpPr>
        <p:spPr>
          <a:xfrm>
            <a:off x="496400" y="2033152"/>
            <a:ext cx="4526873" cy="111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04E5853-A346-7076-6317-D5BD7400F08B}"/>
              </a:ext>
            </a:extLst>
          </p:cNvPr>
          <p:cNvSpPr txBox="1"/>
          <p:nvPr/>
        </p:nvSpPr>
        <p:spPr>
          <a:xfrm>
            <a:off x="7087879" y="1950549"/>
            <a:ext cx="3583015" cy="39744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kern="0" err="1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db.participants.insertOne</a:t>
            </a: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({</a:t>
            </a:r>
            <a:endParaRPr lang="en-US" sz="1700">
              <a:solidFill>
                <a:srgbClr val="CCCCCC"/>
              </a:solidFill>
              <a:latin typeface="Consolas"/>
            </a:endParaRPr>
          </a:p>
          <a:p>
            <a:pPr>
              <a:lnSpc>
                <a:spcPct val="150000"/>
              </a:lnSpc>
            </a:pP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</a:t>
            </a:r>
            <a:r>
              <a:rPr lang="en-US" sz="17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</a:t>
            </a:r>
            <a:r>
              <a:rPr lang="en-US" sz="1700" kern="0" err="1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firstName</a:t>
            </a:r>
            <a:r>
              <a:rPr lang="en-US" sz="17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</a:t>
            </a: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7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"Ricky"</a:t>
            </a: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700">
              <a:solidFill>
                <a:srgbClr val="CCCCCC"/>
              </a:solidFill>
              <a:latin typeface="Consolas"/>
            </a:endParaRPr>
          </a:p>
          <a:p>
            <a:pPr>
              <a:lnSpc>
                <a:spcPct val="150000"/>
              </a:lnSpc>
            </a:pP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</a:t>
            </a:r>
            <a:r>
              <a:rPr lang="en-US" sz="17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</a:t>
            </a:r>
            <a:r>
              <a:rPr lang="en-US" sz="1700" kern="0" err="1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lastName</a:t>
            </a:r>
            <a:r>
              <a:rPr lang="en-US" sz="17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</a:t>
            </a: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7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"Tan"</a:t>
            </a: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700">
              <a:solidFill>
                <a:srgbClr val="CCCCCC"/>
              </a:solidFill>
              <a:latin typeface="Consolas"/>
            </a:endParaRPr>
          </a:p>
          <a:p>
            <a:pPr>
              <a:lnSpc>
                <a:spcPct val="150000"/>
              </a:lnSpc>
            </a:pP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</a:t>
            </a:r>
            <a:r>
              <a:rPr lang="en-US" sz="17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"email"</a:t>
            </a: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7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</a:t>
            </a:r>
            <a:r>
              <a:rPr lang="en-US" sz="17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  <a:hlinkClick r:id="rId5"/>
              </a:rPr>
              <a:t>ricky@gmail.com</a:t>
            </a:r>
            <a:r>
              <a:rPr lang="en-US" sz="17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</a:t>
            </a: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700">
              <a:solidFill>
                <a:srgbClr val="CCCCCC"/>
              </a:solidFill>
              <a:latin typeface="Consolas"/>
            </a:endParaRPr>
          </a:p>
          <a:p>
            <a:pPr>
              <a:lnSpc>
                <a:spcPct val="150000"/>
              </a:lnSpc>
            </a:pP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</a:t>
            </a:r>
            <a:r>
              <a:rPr lang="en-US" sz="17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"phone"</a:t>
            </a: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7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"012-9998887"</a:t>
            </a: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700">
              <a:solidFill>
                <a:srgbClr val="CCCCCC"/>
              </a:solidFill>
              <a:latin typeface="Consolas"/>
            </a:endParaRPr>
          </a:p>
          <a:p>
            <a:pPr>
              <a:lnSpc>
                <a:spcPct val="150000"/>
              </a:lnSpc>
            </a:pP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</a:t>
            </a:r>
            <a:r>
              <a:rPr lang="en-US" sz="17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"gender"</a:t>
            </a: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7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"Male"</a:t>
            </a: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700">
              <a:solidFill>
                <a:srgbClr val="CCCCCC"/>
              </a:solidFill>
              <a:latin typeface="Consolas"/>
            </a:endParaRPr>
          </a:p>
          <a:p>
            <a:pPr>
              <a:lnSpc>
                <a:spcPct val="150000"/>
              </a:lnSpc>
            </a:pP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</a:t>
            </a:r>
            <a:r>
              <a:rPr lang="en-US" sz="17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"age"</a:t>
            </a: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700" kern="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21</a:t>
            </a: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700">
              <a:solidFill>
                <a:srgbClr val="CCCCCC"/>
              </a:solidFill>
              <a:latin typeface="Consolas"/>
            </a:endParaRPr>
          </a:p>
          <a:p>
            <a:pPr>
              <a:lnSpc>
                <a:spcPct val="150000"/>
              </a:lnSpc>
            </a:pP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</a:t>
            </a:r>
            <a:r>
              <a:rPr lang="en-US" sz="17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"address"</a:t>
            </a: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7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"Selangor"</a:t>
            </a:r>
            <a:endParaRPr lang="en-US" sz="1700">
              <a:solidFill>
                <a:srgbClr val="CE9178"/>
              </a:solidFill>
              <a:latin typeface="Consolas"/>
            </a:endParaRPr>
          </a:p>
          <a:p>
            <a:pPr>
              <a:lnSpc>
                <a:spcPct val="150000"/>
              </a:lnSpc>
            </a:pPr>
            <a:r>
              <a:rPr lang="en-US" sz="17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})</a:t>
            </a:r>
            <a:endParaRPr lang="en-US" sz="1700">
              <a:solidFill>
                <a:srgbClr val="CCCCCC"/>
              </a:solidFill>
              <a:highlight>
                <a:srgbClr val="1F1F1F"/>
              </a:highlight>
              <a:latin typeface="Consolas"/>
            </a:endParaRPr>
          </a:p>
        </p:txBody>
      </p: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909D825A-79A8-3C9A-6C23-E258D7AF25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-129" y="6187113"/>
            <a:ext cx="5438041" cy="678319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3496C59-CC30-E119-624A-BB03EEE9C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749525"/>
              </p:ext>
            </p:extLst>
          </p:nvPr>
        </p:nvGraphicFramePr>
        <p:xfrm>
          <a:off x="488133" y="2296229"/>
          <a:ext cx="4660110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60110">
                  <a:extLst>
                    <a:ext uri="{9D8B030D-6E8A-4147-A177-3AD203B41FA5}">
                      <a16:colId xmlns:a16="http://schemas.microsoft.com/office/drawing/2014/main" val="342299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Use the </a:t>
                      </a:r>
                      <a:r>
                        <a:rPr lang="en-US" sz="20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insertOne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()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command to add a new participant (Ricky) into the participants collection.</a:t>
                      </a:r>
                      <a:endParaRPr lang="en-US" sz="2000"/>
                    </a:p>
                  </a:txBody>
                  <a:tcPr marL="68580" marR="68580" marT="0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574"/>
                  </a:ext>
                </a:extLst>
              </a:tr>
            </a:tbl>
          </a:graphicData>
        </a:graphic>
      </p:graphicFrame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65DA17-8922-0538-BB42-B22B49275F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70" y="3642611"/>
            <a:ext cx="5271386" cy="23294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27854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55CB5-44E2-C592-F142-3B45DAEB6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E7C162B8-6867-2E70-0825-31A5847D1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393" y="852666"/>
            <a:ext cx="5769429" cy="6005149"/>
          </a:xfrm>
          <a:prstGeom prst="rect">
            <a:avLst/>
          </a:prstGeom>
        </p:spPr>
      </p:pic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E930D7D3-9E13-8C34-63BF-E19382CD20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-129" y="5655671"/>
            <a:ext cx="5427603" cy="1210674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D192F2E-D708-2427-9581-F74F1B0BDF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11896801" y="4776738"/>
            <a:ext cx="293423" cy="1743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EF024C-74B1-C1D7-9338-6D9851E50C16}"/>
              </a:ext>
            </a:extLst>
          </p:cNvPr>
          <p:cNvSpPr txBox="1"/>
          <p:nvPr/>
        </p:nvSpPr>
        <p:spPr>
          <a:xfrm>
            <a:off x="489756" y="1459658"/>
            <a:ext cx="6345687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kern="0">
                <a:solidFill>
                  <a:srgbClr val="6C1D35"/>
                </a:solidFill>
                <a:latin typeface="Calibri"/>
                <a:ea typeface="Calibri"/>
                <a:cs typeface="Calibri"/>
              </a:rPr>
              <a:t>Insert Operations (CREATE)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8E93B4-9E66-EFA8-D28B-8626D781282B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CRUD Operations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940E79-3107-3C4B-3C06-06662AC389ED}"/>
              </a:ext>
            </a:extLst>
          </p:cNvPr>
          <p:cNvCxnSpPr/>
          <p:nvPr/>
        </p:nvCxnSpPr>
        <p:spPr>
          <a:xfrm flipV="1">
            <a:off x="312962" y="1151164"/>
            <a:ext cx="5494565" cy="7347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86D7F16-EE6D-943C-BBFA-EF5A044F5FCD}"/>
              </a:ext>
            </a:extLst>
          </p:cNvPr>
          <p:cNvCxnSpPr>
            <a:cxnSpLocks/>
          </p:cNvCxnSpPr>
          <p:nvPr/>
        </p:nvCxnSpPr>
        <p:spPr>
          <a:xfrm>
            <a:off x="496400" y="2033152"/>
            <a:ext cx="4526873" cy="111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376A3E6-A796-AD81-C524-DDB093999D6C}"/>
              </a:ext>
            </a:extLst>
          </p:cNvPr>
          <p:cNvSpPr txBox="1"/>
          <p:nvPr/>
        </p:nvSpPr>
        <p:spPr>
          <a:xfrm>
            <a:off x="6399159" y="1323720"/>
            <a:ext cx="4947408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050" kern="0" err="1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db.events.insertMany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([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{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"title"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"AI &amp; Future Tech Symposium"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"category"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"Technology"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050"/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</a:t>
            </a:r>
            <a:r>
              <a:rPr lang="en-US" sz="1050" kern="0" err="1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organizerID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050" kern="0" err="1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ObjectId</a:t>
            </a:r>
            <a:r>
              <a:rPr lang="en-US" sz="105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(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"695ab30df084f228b404f025"</a:t>
            </a:r>
            <a:r>
              <a:rPr lang="en-US" sz="105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)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 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"location"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"Kuala Lumpur"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050"/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</a:t>
            </a:r>
            <a:r>
              <a:rPr lang="en-US" sz="1050" kern="0" err="1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eventDate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050" kern="0" err="1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ISODate</a:t>
            </a:r>
            <a:r>
              <a:rPr lang="en-US" sz="105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(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"2026-07-20T09:00:00Z"</a:t>
            </a:r>
            <a:r>
              <a:rPr lang="en-US" sz="105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)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"price"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050" kern="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120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"capacity"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050" kern="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200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"tags"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[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"AI"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 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"Future Tech"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 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"Symposium"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]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},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{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"title"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"Digital Marketing Mastery 2026"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050"/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"category"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"Business"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050"/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</a:t>
            </a:r>
            <a:r>
              <a:rPr lang="en-US" sz="1050" kern="0" err="1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organizerID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050" kern="0" err="1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ObjectId</a:t>
            </a:r>
            <a:r>
              <a:rPr lang="en-US" sz="105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(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"695ab30df084f228b404f026"</a:t>
            </a:r>
            <a:r>
              <a:rPr lang="en-US" sz="105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)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"location"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"Penang"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,</a:t>
            </a:r>
            <a:endParaRPr lang="en-US" sz="1050"/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"</a:t>
            </a:r>
            <a:r>
              <a:rPr lang="en-US" sz="1050" kern="0" err="1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eventDate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: </a:t>
            </a:r>
            <a:r>
              <a:rPr lang="en-US" sz="1050" kern="0" err="1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ISODate</a:t>
            </a:r>
            <a:r>
              <a:rPr lang="en-US" sz="105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(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"2026-08-15T10:00:00Z"</a:t>
            </a:r>
            <a:r>
              <a:rPr lang="en-US" sz="105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)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,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"price"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: </a:t>
            </a:r>
            <a:r>
              <a:rPr lang="en-US" sz="1050" kern="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45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,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"capacity"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: </a:t>
            </a:r>
            <a:r>
              <a:rPr lang="en-US" sz="1050" kern="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80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Calibri"/>
                <a:cs typeface="Calibri"/>
              </a:rPr>
              <a:t>,</a:t>
            </a:r>
            <a:endParaRPr lang="en-US" sz="1050"/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"tags"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[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"Marketing"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 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"Digital"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 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"Workshop"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]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},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{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"title"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"Cloud Computing Bootcamp"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"category"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"Technology"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</a:t>
            </a:r>
            <a:r>
              <a:rPr lang="en-US" sz="1050" kern="0" err="1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organizerID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050" kern="0" err="1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ObjectId</a:t>
            </a:r>
            <a:r>
              <a:rPr lang="en-US" sz="105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(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"695ab30df084f228b404f025"</a:t>
            </a:r>
            <a:r>
              <a:rPr lang="en-US" sz="105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)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"location"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"Online"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</a:t>
            </a:r>
            <a:r>
              <a:rPr lang="en-US" sz="1050" kern="0" err="1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eventDate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050" kern="0" err="1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ISODate</a:t>
            </a:r>
            <a:r>
              <a:rPr lang="en-US" sz="105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(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"2026-09-05T08:00:00Z"</a:t>
            </a:r>
            <a:r>
              <a:rPr lang="en-US" sz="105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)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"price"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050" kern="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60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"capacity"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050" kern="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500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</a:t>
            </a:r>
            <a:r>
              <a:rPr lang="en-US" sz="105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"tags"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[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"Cloud"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 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"Coding"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 </a:t>
            </a:r>
            <a:r>
              <a:rPr lang="en-US" sz="105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"Education"</a:t>
            </a:r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]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}</a:t>
            </a:r>
            <a:endParaRPr lang="en-US" sz="1050">
              <a:ea typeface="Calibri"/>
              <a:cs typeface="Calibri"/>
            </a:endParaRPr>
          </a:p>
          <a:p>
            <a:r>
              <a:rPr lang="en-US" sz="105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])</a:t>
            </a:r>
            <a:endParaRPr lang="en-US" sz="1600"/>
          </a:p>
        </p:txBody>
      </p: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BB7AE538-65F9-0406-826F-835BE35F69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-129" y="6187113"/>
            <a:ext cx="5438041" cy="678319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B73CB63-17C3-560A-5374-076956ECE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481672"/>
              </p:ext>
            </p:extLst>
          </p:nvPr>
        </p:nvGraphicFramePr>
        <p:xfrm>
          <a:off x="488133" y="2296229"/>
          <a:ext cx="4660110" cy="609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60110">
                  <a:extLst>
                    <a:ext uri="{9D8B030D-6E8A-4147-A177-3AD203B41FA5}">
                      <a16:colId xmlns:a16="http://schemas.microsoft.com/office/drawing/2014/main" val="342299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Use the </a:t>
                      </a:r>
                      <a:r>
                        <a:rPr lang="en-US" sz="20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insertMany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()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command to add multiple events into the events collection.</a:t>
                      </a:r>
                    </a:p>
                  </a:txBody>
                  <a:tcPr marL="68580" marR="68580" marT="0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574"/>
                  </a:ext>
                </a:extLst>
              </a:tr>
            </a:tbl>
          </a:graphicData>
        </a:graphic>
      </p:graphicFrame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DBB1B81-706B-1D80-0F22-26D50BF3BF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3" r="400" b="32375"/>
          <a:stretch>
            <a:fillRect/>
          </a:stretch>
        </p:blipFill>
        <p:spPr>
          <a:xfrm>
            <a:off x="309282" y="3180341"/>
            <a:ext cx="3583652" cy="3352970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687D4B9-19D7-86E3-A533-EA235E29F5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97" t="68328" r="400" b="-411"/>
          <a:stretch>
            <a:fillRect/>
          </a:stretch>
        </p:blipFill>
        <p:spPr>
          <a:xfrm>
            <a:off x="3063224" y="4096871"/>
            <a:ext cx="3048478" cy="131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315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8C55B-39A2-4EA9-60F5-D976A1379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3062CA20-C329-5BD2-DDB7-A7E0BDD59C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6" b="84924"/>
          <a:stretch>
            <a:fillRect/>
          </a:stretch>
        </p:blipFill>
        <p:spPr>
          <a:xfrm>
            <a:off x="446553" y="3424112"/>
            <a:ext cx="5304133" cy="469776"/>
          </a:xfrm>
          <a:prstGeom prst="rect">
            <a:avLst/>
          </a:prstGeom>
        </p:spPr>
      </p:pic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E2F0DFC-B010-B81C-EC8B-01A6D66D15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-129" y="5655671"/>
            <a:ext cx="5427603" cy="1210674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19A77EDF-1381-C7F5-8AF3-C5407A0733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11896801" y="4776738"/>
            <a:ext cx="293423" cy="1743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3EDAFA-7861-E415-A197-1F0683389D38}"/>
              </a:ext>
            </a:extLst>
          </p:cNvPr>
          <p:cNvSpPr txBox="1"/>
          <p:nvPr/>
        </p:nvSpPr>
        <p:spPr>
          <a:xfrm>
            <a:off x="489756" y="1459658"/>
            <a:ext cx="6345687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kern="0">
                <a:solidFill>
                  <a:srgbClr val="6C1D35"/>
                </a:solidFill>
                <a:latin typeface="Calibri"/>
                <a:ea typeface="Calibri"/>
                <a:cs typeface="Calibri"/>
              </a:rPr>
              <a:t>Query Operation (READ)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24CBD-0DAC-C8A5-D116-4CB16256B6D4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CRUD Operations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941FAA-04ED-6B9D-791F-05B8E2E203D4}"/>
              </a:ext>
            </a:extLst>
          </p:cNvPr>
          <p:cNvCxnSpPr/>
          <p:nvPr/>
        </p:nvCxnSpPr>
        <p:spPr>
          <a:xfrm flipV="1">
            <a:off x="312962" y="1151164"/>
            <a:ext cx="5494565" cy="7347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882315-2946-2965-0BD5-3C77355680DA}"/>
              </a:ext>
            </a:extLst>
          </p:cNvPr>
          <p:cNvCxnSpPr>
            <a:cxnSpLocks/>
          </p:cNvCxnSpPr>
          <p:nvPr/>
        </p:nvCxnSpPr>
        <p:spPr>
          <a:xfrm>
            <a:off x="496400" y="2033152"/>
            <a:ext cx="4526873" cy="111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D71A299-A053-69E6-492D-A798FA1E30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-129" y="6245728"/>
            <a:ext cx="5916733" cy="619704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5FBF30E-0A26-BC97-D8C4-992005912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629082"/>
              </p:ext>
            </p:extLst>
          </p:nvPr>
        </p:nvGraphicFramePr>
        <p:xfrm>
          <a:off x="488133" y="2296229"/>
          <a:ext cx="4660110" cy="609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60110">
                  <a:extLst>
                    <a:ext uri="{9D8B030D-6E8A-4147-A177-3AD203B41FA5}">
                      <a16:colId xmlns:a16="http://schemas.microsoft.com/office/drawing/2014/main" val="342299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Use the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find()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command to retrieve the info of all participants who is female.</a:t>
                      </a:r>
                    </a:p>
                  </a:txBody>
                  <a:tcPr marL="68580" marR="68580" marT="0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574"/>
                  </a:ext>
                </a:extLst>
              </a:tr>
            </a:tbl>
          </a:graphicData>
        </a:graphic>
      </p:graphicFrame>
      <p:pic>
        <p:nvPicPr>
          <p:cNvPr id="2" name="Picture 1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16809CC7-74EB-CD86-F64F-5DF16744D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812" y="415018"/>
            <a:ext cx="3451191" cy="6019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F8289B61-E9ED-6E27-BDFA-CA255092A0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2" t="7470" r="-424" b="85000"/>
          <a:stretch>
            <a:fillRect/>
          </a:stretch>
        </p:blipFill>
        <p:spPr>
          <a:xfrm>
            <a:off x="466342" y="3700270"/>
            <a:ext cx="5307572" cy="8580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B83F0B-0FC3-D72F-7EBE-D301F6985BC1}"/>
              </a:ext>
            </a:extLst>
          </p:cNvPr>
          <p:cNvSpPr txBox="1"/>
          <p:nvPr/>
        </p:nvSpPr>
        <p:spPr>
          <a:xfrm>
            <a:off x="628472" y="3906795"/>
            <a:ext cx="4936523" cy="4462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db.participants.find({ </a:t>
            </a:r>
            <a:r>
              <a:rPr lang="en-US" sz="14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"gender"</a:t>
            </a:r>
            <a:r>
              <a:rPr lang="en-US" sz="14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4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"Female"</a:t>
            </a:r>
            <a:r>
              <a:rPr lang="en-US" sz="14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 })</a:t>
            </a:r>
            <a:endParaRPr lang="en-US" sz="1400">
              <a:ea typeface="Calibri"/>
              <a:cs typeface="Calibri"/>
            </a:endParaRPr>
          </a:p>
          <a:p>
            <a:endParaRPr lang="en-US" sz="900" kern="0">
              <a:solidFill>
                <a:srgbClr val="CCCCCC"/>
              </a:solidFill>
              <a:highlight>
                <a:srgbClr val="1F1F1F"/>
              </a:highlight>
              <a:latin typeface="Consola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005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DAB98-9402-7632-C9AC-64EB97CE8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9A62C9B9-092E-BB67-5FC7-ED4B00ABF9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6" b="84924"/>
          <a:stretch>
            <a:fillRect/>
          </a:stretch>
        </p:blipFill>
        <p:spPr>
          <a:xfrm>
            <a:off x="446553" y="3424112"/>
            <a:ext cx="5304133" cy="469776"/>
          </a:xfrm>
          <a:prstGeom prst="rect">
            <a:avLst/>
          </a:prstGeom>
        </p:spPr>
      </p:pic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11903BE-A97F-7F8B-D97A-3AD26DD1A8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-129" y="5655671"/>
            <a:ext cx="5427603" cy="1210674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8916A28C-023E-2141-1DCF-5E97F25611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11896801" y="4776738"/>
            <a:ext cx="293423" cy="1743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ED9024-0CFD-73E7-D11A-C662F1535392}"/>
              </a:ext>
            </a:extLst>
          </p:cNvPr>
          <p:cNvSpPr txBox="1"/>
          <p:nvPr/>
        </p:nvSpPr>
        <p:spPr>
          <a:xfrm>
            <a:off x="489756" y="1459658"/>
            <a:ext cx="6345687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kern="0">
                <a:solidFill>
                  <a:srgbClr val="6C1D35"/>
                </a:solidFill>
                <a:latin typeface="Calibri"/>
                <a:ea typeface="Calibri"/>
                <a:cs typeface="Calibri"/>
              </a:rPr>
              <a:t>Query Operation (READ)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5AE2B9-AD1D-95EE-F996-650110F0C631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CRUD Operations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766C9AC-4514-B504-4B75-EF0F33E4FE06}"/>
              </a:ext>
            </a:extLst>
          </p:cNvPr>
          <p:cNvCxnSpPr/>
          <p:nvPr/>
        </p:nvCxnSpPr>
        <p:spPr>
          <a:xfrm flipV="1">
            <a:off x="312962" y="1151164"/>
            <a:ext cx="5494565" cy="7347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0EDEA93-8643-A4D4-F832-3B6A22B669C3}"/>
              </a:ext>
            </a:extLst>
          </p:cNvPr>
          <p:cNvCxnSpPr>
            <a:cxnSpLocks/>
          </p:cNvCxnSpPr>
          <p:nvPr/>
        </p:nvCxnSpPr>
        <p:spPr>
          <a:xfrm>
            <a:off x="496400" y="2033152"/>
            <a:ext cx="4526873" cy="111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EBEE564-5488-8FA5-DC25-4EAA6A782B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-129" y="6245728"/>
            <a:ext cx="5916733" cy="619704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1D34462-B76C-7E03-3D32-DB4EFD2FB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378452"/>
              </p:ext>
            </p:extLst>
          </p:nvPr>
        </p:nvGraphicFramePr>
        <p:xfrm>
          <a:off x="488133" y="2296229"/>
          <a:ext cx="4660110" cy="609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60110">
                  <a:extLst>
                    <a:ext uri="{9D8B030D-6E8A-4147-A177-3AD203B41FA5}">
                      <a16:colId xmlns:a16="http://schemas.microsoft.com/office/drawing/2014/main" val="342299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Use the </a:t>
                      </a:r>
                      <a:r>
                        <a:rPr lang="en-US" sz="20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findOne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()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command to find the first participant who gender is female.</a:t>
                      </a:r>
                    </a:p>
                  </a:txBody>
                  <a:tcPr marL="68580" marR="68580" marT="0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574"/>
                  </a:ext>
                </a:extLst>
              </a:tr>
            </a:tbl>
          </a:graphicData>
        </a:graphic>
      </p:graphicFrame>
      <p:pic>
        <p:nvPicPr>
          <p:cNvPr id="7" name="Picture 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93952565-FAD5-45A0-EDC6-4A642BEC43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2" t="7470" r="-424" b="85000"/>
          <a:stretch>
            <a:fillRect/>
          </a:stretch>
        </p:blipFill>
        <p:spPr>
          <a:xfrm>
            <a:off x="466342" y="3700270"/>
            <a:ext cx="5307572" cy="8580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158936-9EC5-568C-3695-A8E6E091C0DE}"/>
              </a:ext>
            </a:extLst>
          </p:cNvPr>
          <p:cNvSpPr txBox="1"/>
          <p:nvPr/>
        </p:nvSpPr>
        <p:spPr>
          <a:xfrm>
            <a:off x="628472" y="3906795"/>
            <a:ext cx="4936523" cy="6617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db.participants.findOne({ </a:t>
            </a:r>
            <a:r>
              <a:rPr lang="en-US" sz="14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"gender"</a:t>
            </a:r>
            <a:r>
              <a:rPr lang="en-US" sz="14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 </a:t>
            </a:r>
            <a:r>
              <a:rPr lang="en-US" sz="14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"Female"</a:t>
            </a:r>
            <a:r>
              <a:rPr lang="en-US" sz="14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})</a:t>
            </a:r>
            <a:endParaRPr lang="en-US" sz="1400" kern="0">
              <a:solidFill>
                <a:srgbClr val="000000"/>
              </a:solidFill>
              <a:highlight>
                <a:srgbClr val="1F1F1F"/>
              </a:highlight>
              <a:latin typeface="Consolas"/>
              <a:ea typeface="+mn-lt"/>
              <a:cs typeface="+mn-lt"/>
            </a:endParaRPr>
          </a:p>
          <a:p>
            <a:endParaRPr lang="en-US" sz="1400" kern="0">
              <a:solidFill>
                <a:srgbClr val="CCCCCC"/>
              </a:solidFill>
              <a:highlight>
                <a:srgbClr val="1F1F1F"/>
              </a:highlight>
              <a:latin typeface="Consolas"/>
              <a:ea typeface="Calibri"/>
              <a:cs typeface="Calibri"/>
            </a:endParaRPr>
          </a:p>
          <a:p>
            <a:endParaRPr lang="en-US" sz="900" kern="0">
              <a:solidFill>
                <a:srgbClr val="CCCCCC"/>
              </a:solidFill>
              <a:highlight>
                <a:srgbClr val="1F1F1F"/>
              </a:highlight>
              <a:latin typeface="Consolas"/>
              <a:ea typeface="Calibri"/>
              <a:cs typeface="Calibri"/>
            </a:endParaRPr>
          </a:p>
        </p:txBody>
      </p:sp>
      <p:pic>
        <p:nvPicPr>
          <p:cNvPr id="5" name="Picture 4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5D5A1905-A8D6-7487-264A-08D802E2B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0346" y="2190899"/>
            <a:ext cx="5050990" cy="29443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9524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D97C3-6C65-0F4A-892F-7C0BA26CF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223DA350-86F6-B404-E0EE-19122D5E1F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" t="8946" r="-349" b="85019"/>
          <a:stretch>
            <a:fillRect/>
          </a:stretch>
        </p:blipFill>
        <p:spPr>
          <a:xfrm>
            <a:off x="483858" y="3773188"/>
            <a:ext cx="5066123" cy="1412072"/>
          </a:xfrm>
          <a:prstGeom prst="rect">
            <a:avLst/>
          </a:prstGeom>
        </p:spPr>
      </p:pic>
      <p:pic>
        <p:nvPicPr>
          <p:cNvPr id="27" name="Picture 2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C9E68E10-8B36-BDAC-0D90-58F67D994C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6" b="84924"/>
          <a:stretch>
            <a:fillRect/>
          </a:stretch>
        </p:blipFill>
        <p:spPr>
          <a:xfrm>
            <a:off x="462940" y="3424112"/>
            <a:ext cx="5074714" cy="461583"/>
          </a:xfrm>
          <a:prstGeom prst="rect">
            <a:avLst/>
          </a:prstGeom>
        </p:spPr>
      </p:pic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3437F6C4-B27A-616A-913E-359E9FBBB3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-129" y="5655671"/>
            <a:ext cx="5427603" cy="1210674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CFA1A566-02D5-43DD-1541-3971B06DE7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11896801" y="4776738"/>
            <a:ext cx="293423" cy="1743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CAA72C-8089-6165-D3B1-059F4C7F98BE}"/>
              </a:ext>
            </a:extLst>
          </p:cNvPr>
          <p:cNvSpPr txBox="1"/>
          <p:nvPr/>
        </p:nvSpPr>
        <p:spPr>
          <a:xfrm>
            <a:off x="489756" y="1459658"/>
            <a:ext cx="6345687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kern="0">
                <a:solidFill>
                  <a:srgbClr val="6C1D35"/>
                </a:solidFill>
                <a:latin typeface="Calibri"/>
                <a:ea typeface="Calibri"/>
                <a:cs typeface="Calibri"/>
              </a:rPr>
              <a:t>Query Operation (READ)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83B67C-CF1D-2C7F-F096-1DE3E62308F4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CRUD Operations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62429C-44EA-4A2A-8FA9-55038E1D4360}"/>
              </a:ext>
            </a:extLst>
          </p:cNvPr>
          <p:cNvCxnSpPr/>
          <p:nvPr/>
        </p:nvCxnSpPr>
        <p:spPr>
          <a:xfrm flipV="1">
            <a:off x="312962" y="1151164"/>
            <a:ext cx="5494565" cy="7347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105D47B-8DFA-8734-A24D-87DB3C58CA30}"/>
              </a:ext>
            </a:extLst>
          </p:cNvPr>
          <p:cNvCxnSpPr>
            <a:cxnSpLocks/>
          </p:cNvCxnSpPr>
          <p:nvPr/>
        </p:nvCxnSpPr>
        <p:spPr>
          <a:xfrm>
            <a:off x="496400" y="2033152"/>
            <a:ext cx="4526873" cy="111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13CE805-DF05-0516-63CC-4CF03D6FB4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-129" y="6245728"/>
            <a:ext cx="5916733" cy="619704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549B8F6-AF61-CE61-D995-6290226BF1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3136"/>
              </p:ext>
            </p:extLst>
          </p:nvPr>
        </p:nvGraphicFramePr>
        <p:xfrm>
          <a:off x="488133" y="2296229"/>
          <a:ext cx="5017152" cy="609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17152">
                  <a:extLst>
                    <a:ext uri="{9D8B030D-6E8A-4147-A177-3AD203B41FA5}">
                      <a16:colId xmlns:a16="http://schemas.microsoft.com/office/drawing/2014/main" val="342299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Use the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find()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and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$</a:t>
                      </a:r>
                      <a:r>
                        <a:rPr lang="en-US" sz="20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gt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command to retrieve the events info where the price is greater than 60.</a:t>
                      </a:r>
                    </a:p>
                  </a:txBody>
                  <a:tcPr marL="68580" marR="68580" marT="0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5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E2D479F-04AC-61EF-3D9B-D3A5CE2F9486}"/>
              </a:ext>
            </a:extLst>
          </p:cNvPr>
          <p:cNvSpPr txBox="1"/>
          <p:nvPr/>
        </p:nvSpPr>
        <p:spPr>
          <a:xfrm>
            <a:off x="752112" y="3911959"/>
            <a:ext cx="4936523" cy="10849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db.events.find({</a:t>
            </a:r>
            <a:endParaRPr lang="en-US">
              <a:ea typeface="Calibri"/>
              <a:cs typeface="Calibri"/>
            </a:endParaRPr>
          </a:p>
          <a:p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</a:t>
            </a:r>
            <a:r>
              <a:rPr lang="en-US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"price"</a:t>
            </a:r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{ </a:t>
            </a:r>
            <a:r>
              <a:rPr lang="en-US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$gt</a:t>
            </a:r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kern="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60</a:t>
            </a:r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 }</a:t>
            </a:r>
            <a:endParaRPr lang="en-US">
              <a:ea typeface="Calibri"/>
              <a:cs typeface="Calibri"/>
            </a:endParaRPr>
          </a:p>
          <a:p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})</a:t>
            </a:r>
            <a:endParaRPr lang="en-US">
              <a:ea typeface="Calibri"/>
              <a:cs typeface="Calibri"/>
            </a:endParaRPr>
          </a:p>
          <a:p>
            <a:endParaRPr lang="en-US" sz="1050" kern="0">
              <a:solidFill>
                <a:srgbClr val="CCCCCC"/>
              </a:solidFill>
              <a:highlight>
                <a:srgbClr val="1F1F1F"/>
              </a:highlight>
              <a:latin typeface="Consolas"/>
              <a:ea typeface="Calibri"/>
              <a:cs typeface="Calibri"/>
            </a:endParaRPr>
          </a:p>
        </p:txBody>
      </p:sp>
      <p:pic>
        <p:nvPicPr>
          <p:cNvPr id="2" name="Picture 1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889DC182-899F-2368-DB41-032B9476BA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050" y="1681163"/>
            <a:ext cx="4829175" cy="3943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2924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B070F-9E14-B4F4-2463-FDBBC9364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E96F3A27-3C04-5CF9-2B7B-76CDE5FBFD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" t="8946" r="-349" b="85019"/>
          <a:stretch>
            <a:fillRect/>
          </a:stretch>
        </p:blipFill>
        <p:spPr>
          <a:xfrm>
            <a:off x="483858" y="3768785"/>
            <a:ext cx="4811199" cy="1356455"/>
          </a:xfrm>
          <a:prstGeom prst="rect">
            <a:avLst/>
          </a:prstGeom>
        </p:spPr>
      </p:pic>
      <p:pic>
        <p:nvPicPr>
          <p:cNvPr id="27" name="Picture 2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95FBB21F-8BBF-7AB0-6F90-A23F4CA946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6" b="84924"/>
          <a:stretch>
            <a:fillRect/>
          </a:stretch>
        </p:blipFill>
        <p:spPr>
          <a:xfrm>
            <a:off x="462940" y="3424112"/>
            <a:ext cx="4803317" cy="461583"/>
          </a:xfrm>
          <a:prstGeom prst="rect">
            <a:avLst/>
          </a:prstGeom>
        </p:spPr>
      </p:pic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EF96EF2-8F5B-C65E-C817-529473BCC1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-129" y="5655671"/>
            <a:ext cx="5427603" cy="1210674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96593351-9D3B-667A-F089-0DD0E0B371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11896801" y="4776738"/>
            <a:ext cx="293423" cy="1743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9F6FEE-BC4C-4A64-3944-12F3E7C739F2}"/>
              </a:ext>
            </a:extLst>
          </p:cNvPr>
          <p:cNvSpPr txBox="1"/>
          <p:nvPr/>
        </p:nvSpPr>
        <p:spPr>
          <a:xfrm>
            <a:off x="489756" y="1459658"/>
            <a:ext cx="6345687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kern="0">
                <a:solidFill>
                  <a:srgbClr val="6C1D35"/>
                </a:solidFill>
                <a:latin typeface="Calibri"/>
                <a:ea typeface="Calibri"/>
                <a:cs typeface="Calibri"/>
              </a:rPr>
              <a:t>Query Operation (READ)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BC7A55-6D58-3D08-7882-AF1CE4C40F80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CRUD Operations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8FA3BDF-7498-365E-21A5-6E4A72443406}"/>
              </a:ext>
            </a:extLst>
          </p:cNvPr>
          <p:cNvCxnSpPr/>
          <p:nvPr/>
        </p:nvCxnSpPr>
        <p:spPr>
          <a:xfrm flipV="1">
            <a:off x="312962" y="1151164"/>
            <a:ext cx="5494565" cy="7347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A599EF-9CD4-6F6D-92B5-64433B3ACDFC}"/>
              </a:ext>
            </a:extLst>
          </p:cNvPr>
          <p:cNvCxnSpPr>
            <a:cxnSpLocks/>
          </p:cNvCxnSpPr>
          <p:nvPr/>
        </p:nvCxnSpPr>
        <p:spPr>
          <a:xfrm>
            <a:off x="496400" y="2033152"/>
            <a:ext cx="4526873" cy="111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C7184C85-C7FF-0B6C-600E-2FA8EBC544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-129" y="6245728"/>
            <a:ext cx="5916733" cy="619704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9F3CD15-8AD1-C212-11E5-732F3A446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742856"/>
              </p:ext>
            </p:extLst>
          </p:nvPr>
        </p:nvGraphicFramePr>
        <p:xfrm>
          <a:off x="488133" y="2296229"/>
          <a:ext cx="5017152" cy="609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17152">
                  <a:extLst>
                    <a:ext uri="{9D8B030D-6E8A-4147-A177-3AD203B41FA5}">
                      <a16:colId xmlns:a16="http://schemas.microsoft.com/office/drawing/2014/main" val="342299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Use the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find()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and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$lt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command to retrieve the participants info where their age is less than 20.</a:t>
                      </a:r>
                    </a:p>
                  </a:txBody>
                  <a:tcPr marL="68580" marR="68580" marT="0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5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81B0A01-AFE5-AFED-3AC3-6F512B05AA7F}"/>
              </a:ext>
            </a:extLst>
          </p:cNvPr>
          <p:cNvSpPr txBox="1"/>
          <p:nvPr/>
        </p:nvSpPr>
        <p:spPr>
          <a:xfrm>
            <a:off x="752112" y="3911959"/>
            <a:ext cx="4936523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db.participants.find({</a:t>
            </a:r>
            <a:endParaRPr lang="en-US">
              <a:ea typeface="Calibri"/>
              <a:cs typeface="Calibri"/>
            </a:endParaRPr>
          </a:p>
          <a:p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</a:t>
            </a:r>
            <a:r>
              <a:rPr lang="en-US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"age"</a:t>
            </a:r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{ </a:t>
            </a:r>
            <a:r>
              <a:rPr lang="en-US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$lt</a:t>
            </a:r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kern="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20</a:t>
            </a:r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 }</a:t>
            </a:r>
            <a:endParaRPr lang="en-US">
              <a:ea typeface="Calibri"/>
              <a:cs typeface="Calibri"/>
            </a:endParaRPr>
          </a:p>
          <a:p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})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4590B15-EACE-7D7B-9B75-82E3724932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1185863"/>
            <a:ext cx="4400550" cy="51720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5481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E7F8D-1FFD-FB4C-6D65-ABFC3DC6A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794E2616-BBE8-77CD-7BB4-075129B47F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" t="8946" r="-349" b="85019"/>
          <a:stretch>
            <a:fillRect/>
          </a:stretch>
        </p:blipFill>
        <p:spPr>
          <a:xfrm>
            <a:off x="483858" y="3773188"/>
            <a:ext cx="5063187" cy="1340145"/>
          </a:xfrm>
          <a:prstGeom prst="rect">
            <a:avLst/>
          </a:prstGeom>
        </p:spPr>
      </p:pic>
      <p:pic>
        <p:nvPicPr>
          <p:cNvPr id="27" name="Picture 2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F2A49A06-A09F-8748-A0C4-0E247A100A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6" b="84924"/>
          <a:stretch>
            <a:fillRect/>
          </a:stretch>
        </p:blipFill>
        <p:spPr>
          <a:xfrm>
            <a:off x="462940" y="3424112"/>
            <a:ext cx="5074714" cy="461583"/>
          </a:xfrm>
          <a:prstGeom prst="rect">
            <a:avLst/>
          </a:prstGeom>
        </p:spPr>
      </p:pic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B63FAC4-3C97-5F09-BF4E-63E37088FA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-129" y="5655671"/>
            <a:ext cx="5427603" cy="1210674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A9BAB9EA-F0DF-C7F1-DC29-574934B574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11896801" y="4776738"/>
            <a:ext cx="293423" cy="1743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C12CC7-A5A8-D7B8-FF9D-A2B85ED59FF5}"/>
              </a:ext>
            </a:extLst>
          </p:cNvPr>
          <p:cNvSpPr txBox="1"/>
          <p:nvPr/>
        </p:nvSpPr>
        <p:spPr>
          <a:xfrm>
            <a:off x="489756" y="1459658"/>
            <a:ext cx="6345687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kern="0">
                <a:solidFill>
                  <a:srgbClr val="6C1D35"/>
                </a:solidFill>
                <a:latin typeface="Calibri"/>
                <a:ea typeface="Calibri"/>
                <a:cs typeface="Calibri"/>
              </a:rPr>
              <a:t>Query Operation (READ)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4A1DE7-B314-A458-ADA4-0A0196D2DB58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CRUD Operations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812346A-F1E4-E31F-4E0E-DCDDD424DB3D}"/>
              </a:ext>
            </a:extLst>
          </p:cNvPr>
          <p:cNvCxnSpPr/>
          <p:nvPr/>
        </p:nvCxnSpPr>
        <p:spPr>
          <a:xfrm flipV="1">
            <a:off x="312962" y="1151164"/>
            <a:ext cx="5494565" cy="7347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9E715EE-AFCD-3A34-6ACA-5A801AF59130}"/>
              </a:ext>
            </a:extLst>
          </p:cNvPr>
          <p:cNvCxnSpPr>
            <a:cxnSpLocks/>
          </p:cNvCxnSpPr>
          <p:nvPr/>
        </p:nvCxnSpPr>
        <p:spPr>
          <a:xfrm>
            <a:off x="496400" y="2033152"/>
            <a:ext cx="4526873" cy="111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B33752B6-A05D-3697-99A0-42A7658240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-129" y="6245728"/>
            <a:ext cx="5916733" cy="619704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FE3CC15-D318-4A8C-F6C2-759A16F18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750283"/>
              </p:ext>
            </p:extLst>
          </p:nvPr>
        </p:nvGraphicFramePr>
        <p:xfrm>
          <a:off x="488133" y="2296229"/>
          <a:ext cx="5017152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17152">
                  <a:extLst>
                    <a:ext uri="{9D8B030D-6E8A-4147-A177-3AD203B41FA5}">
                      <a16:colId xmlns:a16="http://schemas.microsoft.com/office/drawing/2014/main" val="342299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Use the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find()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and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$eq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command to retrieve the events info where the category is equal to Business.</a:t>
                      </a:r>
                    </a:p>
                  </a:txBody>
                  <a:tcPr marL="68580" marR="68580" marT="0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5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11D9BE5-9661-53A5-3A5C-08B6C5C6AF99}"/>
              </a:ext>
            </a:extLst>
          </p:cNvPr>
          <p:cNvSpPr txBox="1"/>
          <p:nvPr/>
        </p:nvSpPr>
        <p:spPr>
          <a:xfrm>
            <a:off x="752112" y="3911959"/>
            <a:ext cx="4936523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db.bookings.find({</a:t>
            </a:r>
            <a:endParaRPr lang="en-US">
              <a:ea typeface="Calibri"/>
              <a:cs typeface="Calibri"/>
            </a:endParaRPr>
          </a:p>
          <a:p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</a:t>
            </a:r>
            <a:r>
              <a:rPr lang="en-US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"category"</a:t>
            </a:r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{ </a:t>
            </a:r>
            <a:r>
              <a:rPr lang="en-US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$eq</a:t>
            </a:r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"Business"</a:t>
            </a:r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 }</a:t>
            </a:r>
            <a:endParaRPr lang="en-US">
              <a:ea typeface="Calibri"/>
              <a:cs typeface="Calibri"/>
            </a:endParaRPr>
          </a:p>
          <a:p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})</a:t>
            </a:r>
            <a:endParaRPr lang="en-US">
              <a:ea typeface="Calibri"/>
              <a:cs typeface="Calibri"/>
            </a:endParaRPr>
          </a:p>
          <a:p>
            <a:endParaRPr lang="en-US" kern="0">
              <a:solidFill>
                <a:srgbClr val="CCCCCC"/>
              </a:solidFill>
              <a:highlight>
                <a:srgbClr val="1F1F1F"/>
              </a:highlight>
              <a:latin typeface="Consolas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" name="Picture 1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C06FBDC9-CCD2-EF0B-4B58-E62A73F2F0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514" y="416718"/>
            <a:ext cx="3721535" cy="6143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2596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96795-1E78-28ED-FD3E-0D3EF7FC0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B134DB63-C3F2-F538-460F-0484571943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" t="8946" r="-349" b="85019"/>
          <a:stretch>
            <a:fillRect/>
          </a:stretch>
        </p:blipFill>
        <p:spPr>
          <a:xfrm>
            <a:off x="483858" y="3773188"/>
            <a:ext cx="5063187" cy="1340145"/>
          </a:xfrm>
          <a:prstGeom prst="rect">
            <a:avLst/>
          </a:prstGeom>
        </p:spPr>
      </p:pic>
      <p:pic>
        <p:nvPicPr>
          <p:cNvPr id="27" name="Picture 2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AB59E2D5-2B28-080F-C28A-C88DA86B6F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6" b="84924"/>
          <a:stretch>
            <a:fillRect/>
          </a:stretch>
        </p:blipFill>
        <p:spPr>
          <a:xfrm>
            <a:off x="462940" y="3424112"/>
            <a:ext cx="5074714" cy="461583"/>
          </a:xfrm>
          <a:prstGeom prst="rect">
            <a:avLst/>
          </a:prstGeom>
        </p:spPr>
      </p:pic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878392C8-23E1-52F5-86A3-CA5C040231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-129" y="5655671"/>
            <a:ext cx="5427603" cy="1210674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73147910-0E04-E354-588D-0EC110311F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11896801" y="4776738"/>
            <a:ext cx="293423" cy="1743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9C4E01-F24F-9774-A72E-DDC2049115A1}"/>
              </a:ext>
            </a:extLst>
          </p:cNvPr>
          <p:cNvSpPr txBox="1"/>
          <p:nvPr/>
        </p:nvSpPr>
        <p:spPr>
          <a:xfrm>
            <a:off x="489756" y="1459658"/>
            <a:ext cx="6345687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kern="0">
                <a:solidFill>
                  <a:srgbClr val="6C1D35"/>
                </a:solidFill>
                <a:latin typeface="Calibri"/>
                <a:ea typeface="Calibri"/>
                <a:cs typeface="Calibri"/>
              </a:rPr>
              <a:t>Query Operation (READ)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456509-7C8F-49D1-6091-08F6E3820BB2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CRUD Operations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22040C0-E94E-CAC2-3BF0-D819CBEBA66F}"/>
              </a:ext>
            </a:extLst>
          </p:cNvPr>
          <p:cNvCxnSpPr/>
          <p:nvPr/>
        </p:nvCxnSpPr>
        <p:spPr>
          <a:xfrm flipV="1">
            <a:off x="312962" y="1151164"/>
            <a:ext cx="5494565" cy="7347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F5E641-E67F-C4B1-1997-BD3ED015002C}"/>
              </a:ext>
            </a:extLst>
          </p:cNvPr>
          <p:cNvCxnSpPr>
            <a:cxnSpLocks/>
          </p:cNvCxnSpPr>
          <p:nvPr/>
        </p:nvCxnSpPr>
        <p:spPr>
          <a:xfrm>
            <a:off x="496400" y="2033152"/>
            <a:ext cx="4526873" cy="111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0722982-FF15-B194-59E2-A3F703C03C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2" t="12782" r="177" b="-752"/>
          <a:stretch>
            <a:fillRect/>
          </a:stretch>
        </p:blipFill>
        <p:spPr>
          <a:xfrm>
            <a:off x="-129" y="6245728"/>
            <a:ext cx="5916733" cy="619704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D5BED84-3188-935A-1532-A50CB872D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434106"/>
              </p:ext>
            </p:extLst>
          </p:nvPr>
        </p:nvGraphicFramePr>
        <p:xfrm>
          <a:off x="488133" y="2296229"/>
          <a:ext cx="5017152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17152">
                  <a:extLst>
                    <a:ext uri="{9D8B030D-6E8A-4147-A177-3AD203B41FA5}">
                      <a16:colId xmlns:a16="http://schemas.microsoft.com/office/drawing/2014/main" val="342299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Use the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find()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and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$in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command to find the participants info where their address value is match the “Melaka”.</a:t>
                      </a:r>
                    </a:p>
                  </a:txBody>
                  <a:tcPr marL="68580" marR="68580" marT="0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5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6862B0B-A1E6-F4BF-E493-2844F8059DAB}"/>
              </a:ext>
            </a:extLst>
          </p:cNvPr>
          <p:cNvSpPr txBox="1"/>
          <p:nvPr/>
        </p:nvSpPr>
        <p:spPr>
          <a:xfrm>
            <a:off x="752112" y="3911959"/>
            <a:ext cx="4936523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db.partipants.find({</a:t>
            </a:r>
            <a:endParaRPr lang="en-US">
              <a:ea typeface="Calibri"/>
              <a:cs typeface="Calibri"/>
            </a:endParaRPr>
          </a:p>
          <a:p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</a:t>
            </a:r>
            <a:r>
              <a:rPr lang="en-US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"address"</a:t>
            </a:r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{ </a:t>
            </a:r>
            <a:r>
              <a:rPr lang="en-US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$in</a:t>
            </a:r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[</a:t>
            </a:r>
            <a:r>
              <a:rPr lang="en-US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"Melaka"</a:t>
            </a:r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] }</a:t>
            </a:r>
            <a:endParaRPr lang="en-US">
              <a:ea typeface="Calibri"/>
              <a:cs typeface="Calibri"/>
            </a:endParaRPr>
          </a:p>
          <a:p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})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B64C633-2552-A9B7-F3D8-837AB0B663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738" y="1026319"/>
            <a:ext cx="4736307" cy="54721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6391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5D283-CCB9-9E61-39E2-C5BCB3B0F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382EC4FB-CC68-2650-FE48-EFB1C5A766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5655671"/>
            <a:ext cx="5427603" cy="1210674"/>
          </a:xfrm>
          <a:prstGeom prst="rect">
            <a:avLst/>
          </a:prstGeom>
        </p:spPr>
      </p:pic>
      <p:pic>
        <p:nvPicPr>
          <p:cNvPr id="7" name="Picture 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9FAE8C57-BC2D-0073-BFF4-2B3F69126C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9" t="8946" r="-349" b="85019"/>
          <a:stretch>
            <a:fillRect/>
          </a:stretch>
        </p:blipFill>
        <p:spPr>
          <a:xfrm>
            <a:off x="483858" y="4092586"/>
            <a:ext cx="5073367" cy="1899738"/>
          </a:xfrm>
          <a:prstGeom prst="rect">
            <a:avLst/>
          </a:prstGeom>
        </p:spPr>
      </p:pic>
      <p:pic>
        <p:nvPicPr>
          <p:cNvPr id="27" name="Picture 2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BD6020AF-C8CB-081D-83A8-97F11E9B3E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6" b="84924"/>
          <a:stretch>
            <a:fillRect/>
          </a:stretch>
        </p:blipFill>
        <p:spPr>
          <a:xfrm>
            <a:off x="462940" y="3755416"/>
            <a:ext cx="5074714" cy="461583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AFCDAF3F-319C-8E49-CB59-D5353E2F0B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11896801" y="4776738"/>
            <a:ext cx="293423" cy="1743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605BFB-143F-1749-B77F-EF38A3946B3A}"/>
              </a:ext>
            </a:extLst>
          </p:cNvPr>
          <p:cNvSpPr txBox="1"/>
          <p:nvPr/>
        </p:nvSpPr>
        <p:spPr>
          <a:xfrm>
            <a:off x="489756" y="1459658"/>
            <a:ext cx="6345687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kern="0">
                <a:solidFill>
                  <a:srgbClr val="6C1D35"/>
                </a:solidFill>
                <a:latin typeface="Calibri"/>
                <a:ea typeface="Calibri"/>
                <a:cs typeface="Calibri"/>
              </a:rPr>
              <a:t>Query Operation (READ)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226FB7-540F-90D4-02EE-28D961A8E948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CRUD Operations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FA0518-4D36-1C54-573A-652D206C8803}"/>
              </a:ext>
            </a:extLst>
          </p:cNvPr>
          <p:cNvCxnSpPr/>
          <p:nvPr/>
        </p:nvCxnSpPr>
        <p:spPr>
          <a:xfrm flipV="1">
            <a:off x="312962" y="1151164"/>
            <a:ext cx="5494565" cy="7347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A894FF-C329-6630-6D7D-2B763A42763B}"/>
              </a:ext>
            </a:extLst>
          </p:cNvPr>
          <p:cNvCxnSpPr>
            <a:cxnSpLocks/>
          </p:cNvCxnSpPr>
          <p:nvPr/>
        </p:nvCxnSpPr>
        <p:spPr>
          <a:xfrm>
            <a:off x="496400" y="2033152"/>
            <a:ext cx="4526873" cy="111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D1BAE840-06A8-4DF0-8DBC-415E33AAAF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6245728"/>
            <a:ext cx="5916733" cy="619704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44C008B-3678-C5E1-ED13-04EF380DB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054190"/>
              </p:ext>
            </p:extLst>
          </p:nvPr>
        </p:nvGraphicFramePr>
        <p:xfrm>
          <a:off x="488133" y="2296229"/>
          <a:ext cx="5445190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45190">
                  <a:extLst>
                    <a:ext uri="{9D8B030D-6E8A-4147-A177-3AD203B41FA5}">
                      <a16:colId xmlns:a16="http://schemas.microsoft.com/office/drawing/2014/main" val="342299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Use the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find()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and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$and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command to retrieve the events info that satisfied two condition at the same time, where location is “Kuala Lumpur”, and capacity is greater than 80.</a:t>
                      </a:r>
                    </a:p>
                  </a:txBody>
                  <a:tcPr marL="68580" marR="68580" marT="0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5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85D4919-8299-0015-A6A1-3CF7EC8B040A}"/>
              </a:ext>
            </a:extLst>
          </p:cNvPr>
          <p:cNvSpPr txBox="1"/>
          <p:nvPr/>
        </p:nvSpPr>
        <p:spPr>
          <a:xfrm>
            <a:off x="752112" y="4243263"/>
            <a:ext cx="4936523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db.events.find({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</a:t>
            </a:r>
            <a:r>
              <a:rPr lang="en-US" sz="160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$and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[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{ </a:t>
            </a:r>
            <a:r>
              <a:rPr lang="en-US" sz="16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"location"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6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"Kuala Lumpur"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 },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{ </a:t>
            </a:r>
            <a:r>
              <a:rPr lang="en-US" sz="16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"capacity"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{ </a:t>
            </a:r>
            <a:r>
              <a:rPr lang="en-US" sz="160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$gt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600" kern="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80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 } }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]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})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2" name="Picture 1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F8F8A87-5589-5606-9CF7-EE12939C7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613" y="430696"/>
            <a:ext cx="3625992" cy="59966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1526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6F9A3-631B-F6EF-8A7C-2AD27B77E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ED55D61-3BAF-7D48-A8D3-8428CE58F5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5655671"/>
            <a:ext cx="5427603" cy="1210674"/>
          </a:xfrm>
          <a:prstGeom prst="rect">
            <a:avLst/>
          </a:prstGeom>
        </p:spPr>
      </p:pic>
      <p:pic>
        <p:nvPicPr>
          <p:cNvPr id="7" name="Picture 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53CEACCF-C5C4-1FEB-5245-DD91B0F233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9" t="8946" r="-349" b="85019"/>
          <a:stretch>
            <a:fillRect/>
          </a:stretch>
        </p:blipFill>
        <p:spPr>
          <a:xfrm>
            <a:off x="483858" y="4092586"/>
            <a:ext cx="5073367" cy="1899738"/>
          </a:xfrm>
          <a:prstGeom prst="rect">
            <a:avLst/>
          </a:prstGeom>
        </p:spPr>
      </p:pic>
      <p:pic>
        <p:nvPicPr>
          <p:cNvPr id="27" name="Picture 2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D5AEEA17-432A-544D-C14F-E70A23EB7E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6" b="84924"/>
          <a:stretch>
            <a:fillRect/>
          </a:stretch>
        </p:blipFill>
        <p:spPr>
          <a:xfrm>
            <a:off x="462940" y="3755416"/>
            <a:ext cx="5074714" cy="461583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A9EF408-555C-92EF-BEA8-2AC4B976B1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11896801" y="4776738"/>
            <a:ext cx="293423" cy="1743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A07F98-EF3F-E4AA-A305-CAB1F25C94DC}"/>
              </a:ext>
            </a:extLst>
          </p:cNvPr>
          <p:cNvSpPr txBox="1"/>
          <p:nvPr/>
        </p:nvSpPr>
        <p:spPr>
          <a:xfrm>
            <a:off x="489756" y="1459658"/>
            <a:ext cx="6345687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kern="0">
                <a:solidFill>
                  <a:srgbClr val="6C1D35"/>
                </a:solidFill>
                <a:latin typeface="Calibri"/>
                <a:ea typeface="Calibri"/>
                <a:cs typeface="Calibri"/>
              </a:rPr>
              <a:t>Query Operation (READ)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516AF8-E280-50F0-3366-12EFB0314098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CRUD Operations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E57A35-D9FA-A186-3711-9641B7D3BE05}"/>
              </a:ext>
            </a:extLst>
          </p:cNvPr>
          <p:cNvCxnSpPr/>
          <p:nvPr/>
        </p:nvCxnSpPr>
        <p:spPr>
          <a:xfrm flipV="1">
            <a:off x="312962" y="1151164"/>
            <a:ext cx="5494565" cy="7347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86E7AB-ED2D-CE8F-691C-E8641B6C0CB3}"/>
              </a:ext>
            </a:extLst>
          </p:cNvPr>
          <p:cNvCxnSpPr>
            <a:cxnSpLocks/>
          </p:cNvCxnSpPr>
          <p:nvPr/>
        </p:nvCxnSpPr>
        <p:spPr>
          <a:xfrm>
            <a:off x="496400" y="2033152"/>
            <a:ext cx="4526873" cy="111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EDFEC44-0693-5FE4-22DA-9E3C7D99A7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6245728"/>
            <a:ext cx="5916733" cy="619704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06362AC-C5F0-0A8E-9C1A-BB51132D3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067832"/>
              </p:ext>
            </p:extLst>
          </p:nvPr>
        </p:nvGraphicFramePr>
        <p:xfrm>
          <a:off x="488133" y="2296229"/>
          <a:ext cx="5445190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45190">
                  <a:extLst>
                    <a:ext uri="{9D8B030D-6E8A-4147-A177-3AD203B41FA5}">
                      <a16:colId xmlns:a16="http://schemas.microsoft.com/office/drawing/2014/main" val="342299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Use the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find()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and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$or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command to retrieve the events info that satisfied either one of the condition, where either category is “Technology” or price is less than 30.</a:t>
                      </a:r>
                    </a:p>
                  </a:txBody>
                  <a:tcPr marL="68580" marR="68580" marT="0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5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D1C8FFA-D901-C3AE-9AC0-DF5ACE2A6E94}"/>
              </a:ext>
            </a:extLst>
          </p:cNvPr>
          <p:cNvSpPr txBox="1"/>
          <p:nvPr/>
        </p:nvSpPr>
        <p:spPr>
          <a:xfrm>
            <a:off x="752112" y="4243263"/>
            <a:ext cx="4936523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db.events.find({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</a:t>
            </a:r>
            <a:r>
              <a:rPr lang="en-US" sz="160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$or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[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{ </a:t>
            </a:r>
            <a:r>
              <a:rPr lang="en-US" sz="16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"category"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6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"Technology"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 },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  { </a:t>
            </a:r>
            <a:r>
              <a:rPr lang="en-US" sz="16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"price"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{ </a:t>
            </a:r>
            <a:r>
              <a:rPr lang="en-US" sz="160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$lt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600" kern="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30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 } }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]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})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2265EDC-5948-1970-47E5-5BB5C0C76E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789" y="419653"/>
            <a:ext cx="3660771" cy="60076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678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7A32B-50B0-00CE-1FDE-4B55627AF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BB78BB57-85EA-58DB-CB21-259E1852E2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5655671"/>
            <a:ext cx="5427603" cy="1210674"/>
          </a:xfrm>
          <a:prstGeom prst="rect">
            <a:avLst/>
          </a:prstGeom>
        </p:spPr>
      </p:pic>
      <p:pic>
        <p:nvPicPr>
          <p:cNvPr id="7" name="Picture 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134DAE04-B24D-4CA1-2EBA-0C438C80E8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9" t="8946" r="-349" b="85019"/>
          <a:stretch>
            <a:fillRect/>
          </a:stretch>
        </p:blipFill>
        <p:spPr>
          <a:xfrm>
            <a:off x="489964" y="4092586"/>
            <a:ext cx="5075173" cy="1413825"/>
          </a:xfrm>
          <a:prstGeom prst="rect">
            <a:avLst/>
          </a:prstGeom>
        </p:spPr>
      </p:pic>
      <p:pic>
        <p:nvPicPr>
          <p:cNvPr id="27" name="Picture 2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453824F5-F1A0-CD08-815E-00252C578C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6" b="84924"/>
          <a:stretch>
            <a:fillRect/>
          </a:stretch>
        </p:blipFill>
        <p:spPr>
          <a:xfrm>
            <a:off x="462940" y="3755416"/>
            <a:ext cx="5074714" cy="461583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7E91C3E2-B8AE-BD7E-33F8-E04C37FAF6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11896801" y="4776738"/>
            <a:ext cx="293423" cy="1743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40F181-1BEB-A371-F4C9-677EF018230C}"/>
              </a:ext>
            </a:extLst>
          </p:cNvPr>
          <p:cNvSpPr txBox="1"/>
          <p:nvPr/>
        </p:nvSpPr>
        <p:spPr>
          <a:xfrm>
            <a:off x="489756" y="1459658"/>
            <a:ext cx="6345687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kern="0">
                <a:solidFill>
                  <a:srgbClr val="6C1D35"/>
                </a:solidFill>
                <a:latin typeface="Calibri"/>
                <a:ea typeface="Calibri"/>
                <a:cs typeface="Calibri"/>
              </a:rPr>
              <a:t>Query Operation (READ)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E275FA-9068-BFB5-1058-FD22F37D01E7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CRUD Operations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37E29D-E9BF-3379-6272-22DD8EB12975}"/>
              </a:ext>
            </a:extLst>
          </p:cNvPr>
          <p:cNvCxnSpPr/>
          <p:nvPr/>
        </p:nvCxnSpPr>
        <p:spPr>
          <a:xfrm flipV="1">
            <a:off x="312962" y="1151164"/>
            <a:ext cx="5494565" cy="7347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1E13E02-17E5-8E30-6835-AEB440233827}"/>
              </a:ext>
            </a:extLst>
          </p:cNvPr>
          <p:cNvCxnSpPr>
            <a:cxnSpLocks/>
          </p:cNvCxnSpPr>
          <p:nvPr/>
        </p:nvCxnSpPr>
        <p:spPr>
          <a:xfrm>
            <a:off x="496400" y="2033152"/>
            <a:ext cx="4526873" cy="111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38A420F-F986-1B03-C1F3-84CB4EA157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6245728"/>
            <a:ext cx="5916733" cy="619704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8DDDCE2-DA1D-BDFC-829B-F3B30F4E6C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890833"/>
              </p:ext>
            </p:extLst>
          </p:nvPr>
        </p:nvGraphicFramePr>
        <p:xfrm>
          <a:off x="488133" y="2296229"/>
          <a:ext cx="5445190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45190">
                  <a:extLst>
                    <a:ext uri="{9D8B030D-6E8A-4147-A177-3AD203B41FA5}">
                      <a16:colId xmlns:a16="http://schemas.microsoft.com/office/drawing/2014/main" val="342299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Use the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find()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command to query an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array field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to retrieve all events where the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"tags"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array contains the value “Technology”.</a:t>
                      </a:r>
                      <a:endParaRPr lang="en-US" sz="2000"/>
                    </a:p>
                  </a:txBody>
                  <a:tcPr marL="68580" marR="68580" marT="0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5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6F902C0-E74D-EF03-2756-D021012BBF82}"/>
              </a:ext>
            </a:extLst>
          </p:cNvPr>
          <p:cNvSpPr txBox="1"/>
          <p:nvPr/>
        </p:nvSpPr>
        <p:spPr>
          <a:xfrm>
            <a:off x="752112" y="4243263"/>
            <a:ext cx="4936523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db.events.find({</a:t>
            </a:r>
            <a:endParaRPr lang="en-US">
              <a:ea typeface="Calibri"/>
              <a:cs typeface="Calibri"/>
            </a:endParaRPr>
          </a:p>
          <a:p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</a:t>
            </a:r>
            <a:r>
              <a:rPr lang="en-US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"tags"</a:t>
            </a:r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"Technology"</a:t>
            </a:r>
            <a:endParaRPr lang="en-US">
              <a:ea typeface="Calibri"/>
              <a:cs typeface="Calibri"/>
            </a:endParaRPr>
          </a:p>
          <a:p>
            <a:r>
              <a:rPr lang="en-US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})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2" name="Picture 1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291132FD-65D2-3462-48CB-A6372989CD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6583" y="421105"/>
            <a:ext cx="3640073" cy="60057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6609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CEAD6-2A21-AACE-7ABC-9639520FF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8DAFAA5B-0A03-9D1D-6947-71F3D28ED2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5655671"/>
            <a:ext cx="5427603" cy="1210674"/>
          </a:xfrm>
          <a:prstGeom prst="rect">
            <a:avLst/>
          </a:prstGeom>
        </p:spPr>
      </p:pic>
      <p:pic>
        <p:nvPicPr>
          <p:cNvPr id="7" name="Picture 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32600764-D12B-6C8D-2A9D-EFE1312AF6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9" t="8946" r="-349" b="85019"/>
          <a:stretch>
            <a:fillRect/>
          </a:stretch>
        </p:blipFill>
        <p:spPr>
          <a:xfrm>
            <a:off x="489964" y="4092586"/>
            <a:ext cx="5075173" cy="1413825"/>
          </a:xfrm>
          <a:prstGeom prst="rect">
            <a:avLst/>
          </a:prstGeom>
        </p:spPr>
      </p:pic>
      <p:pic>
        <p:nvPicPr>
          <p:cNvPr id="27" name="Picture 2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1695B68C-87FA-22EA-6364-6B219D40CD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6" b="84924"/>
          <a:stretch>
            <a:fillRect/>
          </a:stretch>
        </p:blipFill>
        <p:spPr>
          <a:xfrm>
            <a:off x="462940" y="3755416"/>
            <a:ext cx="5074714" cy="461583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990D468-F0F6-6C4A-0F9C-A125D0D346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11896801" y="4776738"/>
            <a:ext cx="293423" cy="1743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7A8308-D7B0-C917-A14C-B32F17775C62}"/>
              </a:ext>
            </a:extLst>
          </p:cNvPr>
          <p:cNvSpPr txBox="1"/>
          <p:nvPr/>
        </p:nvSpPr>
        <p:spPr>
          <a:xfrm>
            <a:off x="489756" y="1459658"/>
            <a:ext cx="6345687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kern="0">
                <a:solidFill>
                  <a:srgbClr val="6C1D35"/>
                </a:solidFill>
                <a:latin typeface="Calibri"/>
                <a:ea typeface="Calibri"/>
                <a:cs typeface="Calibri"/>
              </a:rPr>
              <a:t>Query Operation (READ)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FB6682-EC13-033E-04DE-513ED0574BD9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CRUD Operations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9A35CD-4AF4-6779-EE0D-31FF1521406A}"/>
              </a:ext>
            </a:extLst>
          </p:cNvPr>
          <p:cNvCxnSpPr/>
          <p:nvPr/>
        </p:nvCxnSpPr>
        <p:spPr>
          <a:xfrm flipV="1">
            <a:off x="312962" y="1151164"/>
            <a:ext cx="5494565" cy="7347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0814EDE-688D-ADC1-AB56-8D6192778815}"/>
              </a:ext>
            </a:extLst>
          </p:cNvPr>
          <p:cNvCxnSpPr>
            <a:cxnSpLocks/>
          </p:cNvCxnSpPr>
          <p:nvPr/>
        </p:nvCxnSpPr>
        <p:spPr>
          <a:xfrm>
            <a:off x="496400" y="2033152"/>
            <a:ext cx="4526873" cy="111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ACD10F64-C900-9404-841F-025F9D4536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6245728"/>
            <a:ext cx="5916733" cy="619704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8BAA916-425F-5793-B139-6A91A218D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037156"/>
              </p:ext>
            </p:extLst>
          </p:nvPr>
        </p:nvGraphicFramePr>
        <p:xfrm>
          <a:off x="488133" y="2296229"/>
          <a:ext cx="5445190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45190">
                  <a:extLst>
                    <a:ext uri="{9D8B030D-6E8A-4147-A177-3AD203B41FA5}">
                      <a16:colId xmlns:a16="http://schemas.microsoft.com/office/drawing/2014/main" val="342299629"/>
                    </a:ext>
                  </a:extLst>
                </a:gridCol>
              </a:tblGrid>
              <a:tr h="6548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Use the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find()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command with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projection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to retrieve all events info. Use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to show the title and price fields and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to hide the _id field. </a:t>
                      </a:r>
                      <a:endParaRPr lang="en-US" sz="2000"/>
                    </a:p>
                  </a:txBody>
                  <a:tcPr marL="68580" marR="68580" marT="0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5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3F8CE8C-4519-77D2-A923-CB743F9D42EE}"/>
              </a:ext>
            </a:extLst>
          </p:cNvPr>
          <p:cNvSpPr txBox="1"/>
          <p:nvPr/>
        </p:nvSpPr>
        <p:spPr>
          <a:xfrm>
            <a:off x="752112" y="4243263"/>
            <a:ext cx="4936523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db.events.find(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{}, 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{ </a:t>
            </a:r>
            <a:r>
              <a:rPr lang="en-US" sz="16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"title"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600" kern="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1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 </a:t>
            </a:r>
            <a:r>
              <a:rPr lang="en-US" sz="16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"price"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600" kern="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1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, </a:t>
            </a:r>
            <a:r>
              <a:rPr lang="en-US" sz="16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"_id"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600" kern="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0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 }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)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1C31F08-EB9C-C725-7AA7-0BFC47C9D6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79" b="49891"/>
          <a:stretch>
            <a:fillRect/>
          </a:stretch>
        </p:blipFill>
        <p:spPr>
          <a:xfrm>
            <a:off x="6371246" y="704850"/>
            <a:ext cx="3202389" cy="33872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F1D2F25-BD38-D7DA-A1F6-ECB24E52BB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9541" r="-380"/>
          <a:stretch>
            <a:fillRect/>
          </a:stretch>
        </p:blipFill>
        <p:spPr>
          <a:xfrm>
            <a:off x="8176234" y="2763679"/>
            <a:ext cx="3278567" cy="3653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5955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0A055-32BC-18B1-D8AD-77814BA85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10245EBE-3602-4735-DB88-782475FE11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5655671"/>
            <a:ext cx="5427603" cy="1210674"/>
          </a:xfrm>
          <a:prstGeom prst="rect">
            <a:avLst/>
          </a:prstGeom>
        </p:spPr>
      </p:pic>
      <p:pic>
        <p:nvPicPr>
          <p:cNvPr id="7" name="Picture 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3DC72D58-E0CD-E97D-D5B9-5332BB34A0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9" t="8946" r="-349" b="85019"/>
          <a:stretch>
            <a:fillRect/>
          </a:stretch>
        </p:blipFill>
        <p:spPr>
          <a:xfrm>
            <a:off x="489964" y="4092586"/>
            <a:ext cx="5075173" cy="1413825"/>
          </a:xfrm>
          <a:prstGeom prst="rect">
            <a:avLst/>
          </a:prstGeom>
        </p:spPr>
      </p:pic>
      <p:pic>
        <p:nvPicPr>
          <p:cNvPr id="27" name="Picture 2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D74C4653-30BB-B8CB-A0E2-65EDD822C6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6" b="84924"/>
          <a:stretch>
            <a:fillRect/>
          </a:stretch>
        </p:blipFill>
        <p:spPr>
          <a:xfrm>
            <a:off x="462940" y="3755416"/>
            <a:ext cx="5074714" cy="461583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C80FAE80-092F-A079-5396-B4E7E0658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11896801" y="4776738"/>
            <a:ext cx="293423" cy="1743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F7B3D7-9615-8CA9-F583-C9D402212568}"/>
              </a:ext>
            </a:extLst>
          </p:cNvPr>
          <p:cNvSpPr txBox="1"/>
          <p:nvPr/>
        </p:nvSpPr>
        <p:spPr>
          <a:xfrm>
            <a:off x="489756" y="1459658"/>
            <a:ext cx="6345687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kern="0">
                <a:solidFill>
                  <a:srgbClr val="6C1D35"/>
                </a:solidFill>
                <a:latin typeface="Calibri"/>
                <a:ea typeface="Calibri"/>
                <a:cs typeface="Calibri"/>
              </a:rPr>
              <a:t>Update Operations (UPDATE)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358B1A-B43F-6EB1-4A41-08CB18545ADB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CRUD Operations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D46288F-8B4B-E7B6-6ED9-2F96E2B9C9C2}"/>
              </a:ext>
            </a:extLst>
          </p:cNvPr>
          <p:cNvCxnSpPr/>
          <p:nvPr/>
        </p:nvCxnSpPr>
        <p:spPr>
          <a:xfrm flipV="1">
            <a:off x="312962" y="1151164"/>
            <a:ext cx="5494565" cy="7347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CEA415-A8A2-1355-07FC-1F95E309C4F6}"/>
              </a:ext>
            </a:extLst>
          </p:cNvPr>
          <p:cNvCxnSpPr>
            <a:cxnSpLocks/>
          </p:cNvCxnSpPr>
          <p:nvPr/>
        </p:nvCxnSpPr>
        <p:spPr>
          <a:xfrm>
            <a:off x="496400" y="2033152"/>
            <a:ext cx="4526873" cy="111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D63DF8D-F60B-F392-CE3B-96B35C2DFD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6245728"/>
            <a:ext cx="5916733" cy="619704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54BF42D-1397-1880-C77A-D640FABDC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025293"/>
              </p:ext>
            </p:extLst>
          </p:nvPr>
        </p:nvGraphicFramePr>
        <p:xfrm>
          <a:off x="488133" y="2296229"/>
          <a:ext cx="4897500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97500">
                  <a:extLst>
                    <a:ext uri="{9D8B030D-6E8A-4147-A177-3AD203B41FA5}">
                      <a16:colId xmlns:a16="http://schemas.microsoft.com/office/drawing/2014/main" val="342299629"/>
                    </a:ext>
                  </a:extLst>
                </a:gridCol>
              </a:tblGrid>
              <a:tr h="6548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Use the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updateOne()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and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$set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command to update the participants info who’s name is Ricky, then update his phone number.</a:t>
                      </a:r>
                      <a:endParaRPr lang="en-US" sz="1400"/>
                    </a:p>
                  </a:txBody>
                  <a:tcPr marL="68580" marR="68580" marT="0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5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F06EC88-72C6-D4EC-887B-09F141F282FE}"/>
              </a:ext>
            </a:extLst>
          </p:cNvPr>
          <p:cNvSpPr txBox="1"/>
          <p:nvPr/>
        </p:nvSpPr>
        <p:spPr>
          <a:xfrm>
            <a:off x="752112" y="4243263"/>
            <a:ext cx="4936523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db.participants.updateOne(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{ </a:t>
            </a:r>
            <a:r>
              <a:rPr lang="en-US" sz="16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"firstName"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6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"Ricky"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 },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{ </a:t>
            </a:r>
            <a:r>
              <a:rPr lang="en-US" sz="160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$set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{ </a:t>
            </a:r>
            <a:r>
              <a:rPr lang="en-US" sz="16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"phone"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6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"012-3344556"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 } }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)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C58E4D0-7427-8ADB-BCFD-A2E31BFF9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043113"/>
            <a:ext cx="5057775" cy="2324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3511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3FC11-7EA1-5921-1D1C-0CA35CD2C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375EC511-DF95-66E4-3BE4-86AFD1ACB8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5655671"/>
            <a:ext cx="5427603" cy="1210674"/>
          </a:xfrm>
          <a:prstGeom prst="rect">
            <a:avLst/>
          </a:prstGeom>
        </p:spPr>
      </p:pic>
      <p:pic>
        <p:nvPicPr>
          <p:cNvPr id="7" name="Picture 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30B14650-7953-94A5-573B-F8CB178E50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9" t="8946" r="-349" b="85019"/>
          <a:stretch>
            <a:fillRect/>
          </a:stretch>
        </p:blipFill>
        <p:spPr>
          <a:xfrm>
            <a:off x="489964" y="4092586"/>
            <a:ext cx="5075173" cy="1413825"/>
          </a:xfrm>
          <a:prstGeom prst="rect">
            <a:avLst/>
          </a:prstGeom>
        </p:spPr>
      </p:pic>
      <p:pic>
        <p:nvPicPr>
          <p:cNvPr id="27" name="Picture 2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030BC7B4-F634-86B7-E8CA-B0917C3A80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6" b="84924"/>
          <a:stretch>
            <a:fillRect/>
          </a:stretch>
        </p:blipFill>
        <p:spPr>
          <a:xfrm>
            <a:off x="462940" y="3755416"/>
            <a:ext cx="5074714" cy="461583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5BB3429-97D6-71E8-3373-2D6814E814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11896801" y="4776738"/>
            <a:ext cx="293423" cy="1743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912F69-B536-7895-80EA-F3A599CC95BD}"/>
              </a:ext>
            </a:extLst>
          </p:cNvPr>
          <p:cNvSpPr txBox="1"/>
          <p:nvPr/>
        </p:nvSpPr>
        <p:spPr>
          <a:xfrm>
            <a:off x="489756" y="1459658"/>
            <a:ext cx="6345687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kern="0">
                <a:solidFill>
                  <a:srgbClr val="6C1D35"/>
                </a:solidFill>
                <a:latin typeface="Calibri"/>
                <a:ea typeface="Calibri"/>
                <a:cs typeface="Calibri"/>
              </a:rPr>
              <a:t>Update Operations (UPDATE)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9863FD-10BA-566F-F957-FEDA35F07E5E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CRUD Operations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740ADA-B83B-2449-D750-2C464F8F0234}"/>
              </a:ext>
            </a:extLst>
          </p:cNvPr>
          <p:cNvCxnSpPr/>
          <p:nvPr/>
        </p:nvCxnSpPr>
        <p:spPr>
          <a:xfrm flipV="1">
            <a:off x="312962" y="1151164"/>
            <a:ext cx="5494565" cy="7347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DAC0B7-E702-CB56-0B20-7B707D7762E1}"/>
              </a:ext>
            </a:extLst>
          </p:cNvPr>
          <p:cNvCxnSpPr>
            <a:cxnSpLocks/>
          </p:cNvCxnSpPr>
          <p:nvPr/>
        </p:nvCxnSpPr>
        <p:spPr>
          <a:xfrm>
            <a:off x="496400" y="2033152"/>
            <a:ext cx="4526873" cy="111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3B189927-D539-4F70-346F-7B80853C09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6245728"/>
            <a:ext cx="5916733" cy="619704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FD3B7D5-2011-6887-5C22-B41377B59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596945"/>
              </p:ext>
            </p:extLst>
          </p:nvPr>
        </p:nvGraphicFramePr>
        <p:xfrm>
          <a:off x="488133" y="2296229"/>
          <a:ext cx="5016562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16562">
                  <a:extLst>
                    <a:ext uri="{9D8B030D-6E8A-4147-A177-3AD203B41FA5}">
                      <a16:colId xmlns:a16="http://schemas.microsoft.com/office/drawing/2014/main" val="342299629"/>
                    </a:ext>
                  </a:extLst>
                </a:gridCol>
              </a:tblGrid>
              <a:tr h="6548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Use the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updateMany()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and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$inc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command to increase capacity of multiple events where the category is “Technology” by 50 simultaneously.</a:t>
                      </a:r>
                      <a:endParaRPr lang="en-US" sz="2000"/>
                    </a:p>
                  </a:txBody>
                  <a:tcPr marL="68580" marR="68580" marT="0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5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16FA163-2172-DFD7-0C04-0166B639083E}"/>
              </a:ext>
            </a:extLst>
          </p:cNvPr>
          <p:cNvSpPr txBox="1"/>
          <p:nvPr/>
        </p:nvSpPr>
        <p:spPr>
          <a:xfrm>
            <a:off x="752112" y="4243263"/>
            <a:ext cx="4936523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db.events.updateMany(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{ </a:t>
            </a:r>
            <a:r>
              <a:rPr lang="en-US" sz="16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"category"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6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"Technology"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 },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{ </a:t>
            </a:r>
            <a:r>
              <a:rPr lang="en-US" sz="160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$inc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{ </a:t>
            </a:r>
            <a:r>
              <a:rPr lang="en-US" sz="16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"capacity"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600" kern="0">
                <a:solidFill>
                  <a:srgbClr val="B5CEA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50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 } }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)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27D584D-CFCE-CCCE-6422-33D25A97CD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338" y="1133475"/>
            <a:ext cx="3743325" cy="1657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FAA8A77-9F13-D0C0-3A59-84CB080CC5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338" y="2790825"/>
            <a:ext cx="3743325" cy="1676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A computer code with numbers and letters&#10;&#10;AI-generated content may be incorrect.">
            <a:extLst>
              <a:ext uri="{FF2B5EF4-FFF2-40B4-BE49-F238E27FC236}">
                <a16:creationId xmlns:a16="http://schemas.microsoft.com/office/drawing/2014/main" id="{4D2B42BC-A3A7-3688-9AB5-5DD77F3C6C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338" y="4467225"/>
            <a:ext cx="3743325" cy="1628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5721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4485C-4541-96B1-310F-CF3BC8314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A2C10D7-E1EB-254D-EC7E-DF259A31A8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5655671"/>
            <a:ext cx="5427603" cy="1210674"/>
          </a:xfrm>
          <a:prstGeom prst="rect">
            <a:avLst/>
          </a:prstGeom>
        </p:spPr>
      </p:pic>
      <p:pic>
        <p:nvPicPr>
          <p:cNvPr id="7" name="Picture 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2C5D0558-9026-B86B-3A80-79C3D3D9B2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9" t="8946" r="-349" b="85019"/>
          <a:stretch>
            <a:fillRect/>
          </a:stretch>
        </p:blipFill>
        <p:spPr>
          <a:xfrm>
            <a:off x="489964" y="4092586"/>
            <a:ext cx="5284723" cy="1413825"/>
          </a:xfrm>
          <a:prstGeom prst="rect">
            <a:avLst/>
          </a:prstGeom>
        </p:spPr>
      </p:pic>
      <p:pic>
        <p:nvPicPr>
          <p:cNvPr id="27" name="Picture 2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5D99B190-E267-7E88-9814-F40E9E3176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6" b="84924"/>
          <a:stretch>
            <a:fillRect/>
          </a:stretch>
        </p:blipFill>
        <p:spPr>
          <a:xfrm>
            <a:off x="462940" y="3755416"/>
            <a:ext cx="5284264" cy="461583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1BA8EF1-007B-29C7-6CD7-0974DC2742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11896801" y="4776738"/>
            <a:ext cx="293423" cy="1743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EE23E3-EDB5-111E-BB79-4DF245FBE2FB}"/>
              </a:ext>
            </a:extLst>
          </p:cNvPr>
          <p:cNvSpPr txBox="1"/>
          <p:nvPr/>
        </p:nvSpPr>
        <p:spPr>
          <a:xfrm>
            <a:off x="489756" y="1459658"/>
            <a:ext cx="6345687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kern="0">
                <a:solidFill>
                  <a:srgbClr val="6C1D35"/>
                </a:solidFill>
                <a:latin typeface="Calibri"/>
                <a:ea typeface="Calibri"/>
                <a:cs typeface="Calibri"/>
              </a:rPr>
              <a:t>Update Operations (UPDATE)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AB253C-E109-53CD-C4FB-790EDC5B5EC9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CRUD Operations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881282-D9D9-817C-2A4E-62AA47CE731F}"/>
              </a:ext>
            </a:extLst>
          </p:cNvPr>
          <p:cNvCxnSpPr/>
          <p:nvPr/>
        </p:nvCxnSpPr>
        <p:spPr>
          <a:xfrm flipV="1">
            <a:off x="312962" y="1151164"/>
            <a:ext cx="5494565" cy="7347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49D7681-2456-3981-930B-C8903FCD3FA4}"/>
              </a:ext>
            </a:extLst>
          </p:cNvPr>
          <p:cNvCxnSpPr>
            <a:cxnSpLocks/>
          </p:cNvCxnSpPr>
          <p:nvPr/>
        </p:nvCxnSpPr>
        <p:spPr>
          <a:xfrm>
            <a:off x="496400" y="2033152"/>
            <a:ext cx="4526873" cy="111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E60B215-3682-437F-3286-A88F4497BF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6245728"/>
            <a:ext cx="5916733" cy="619704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9072371-EA9A-152D-01A6-BD18D4A79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225168"/>
              </p:ext>
            </p:extLst>
          </p:nvPr>
        </p:nvGraphicFramePr>
        <p:xfrm>
          <a:off x="488133" y="2296229"/>
          <a:ext cx="5147531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47531">
                  <a:extLst>
                    <a:ext uri="{9D8B030D-6E8A-4147-A177-3AD203B41FA5}">
                      <a16:colId xmlns:a16="http://schemas.microsoft.com/office/drawing/2014/main" val="342299629"/>
                    </a:ext>
                  </a:extLst>
                </a:gridCol>
              </a:tblGrid>
              <a:tr h="6548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Use the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updateOne()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and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$push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command to add a new value “Hot Selling” into the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tags array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of the “Shopee E-Commerse Expo” event.</a:t>
                      </a:r>
                      <a:endParaRPr lang="en-US" sz="2000"/>
                    </a:p>
                  </a:txBody>
                  <a:tcPr marL="68580" marR="68580" marT="0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5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450C143-924A-0D3D-E0E0-DEC2EFCDD42B}"/>
              </a:ext>
            </a:extLst>
          </p:cNvPr>
          <p:cNvSpPr txBox="1"/>
          <p:nvPr/>
        </p:nvSpPr>
        <p:spPr>
          <a:xfrm>
            <a:off x="752112" y="4243263"/>
            <a:ext cx="5136548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db.events.updateOne(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{ </a:t>
            </a:r>
            <a:r>
              <a:rPr lang="en-US" sz="16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"title"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6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"Shopee E-Commerse Expo"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 },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{ </a:t>
            </a:r>
            <a:r>
              <a:rPr lang="en-US" sz="160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$push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{ </a:t>
            </a:r>
            <a:r>
              <a:rPr lang="en-US" sz="16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"tags"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6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"Hot Selling"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 } }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)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2" name="Picture 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21A0D28-883C-3DB1-AB7B-D52339539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2143125"/>
            <a:ext cx="4819650" cy="266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999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83B14-3D84-FDE7-8F7F-7F75C1530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AFABAF65-380C-F904-C558-948C98E194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5655671"/>
            <a:ext cx="5427603" cy="1210674"/>
          </a:xfrm>
          <a:prstGeom prst="rect">
            <a:avLst/>
          </a:prstGeom>
        </p:spPr>
      </p:pic>
      <p:pic>
        <p:nvPicPr>
          <p:cNvPr id="7" name="Picture 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7EAC684E-E09D-FBDD-A581-67F61DEB46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9" t="8946" r="-349" b="85019"/>
          <a:stretch>
            <a:fillRect/>
          </a:stretch>
        </p:blipFill>
        <p:spPr>
          <a:xfrm>
            <a:off x="489964" y="4092586"/>
            <a:ext cx="5284723" cy="1413825"/>
          </a:xfrm>
          <a:prstGeom prst="rect">
            <a:avLst/>
          </a:prstGeom>
        </p:spPr>
      </p:pic>
      <p:pic>
        <p:nvPicPr>
          <p:cNvPr id="27" name="Picture 2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6170D4AA-CD1F-79D7-3984-C87C893928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6" b="84924"/>
          <a:stretch>
            <a:fillRect/>
          </a:stretch>
        </p:blipFill>
        <p:spPr>
          <a:xfrm>
            <a:off x="462940" y="3755416"/>
            <a:ext cx="5284264" cy="461583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1A42ACE-37F3-B60B-81BB-BBC79C1D8C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11896801" y="4776738"/>
            <a:ext cx="293423" cy="1743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9BF162-1986-7F23-7E69-1C4FE8FF81E2}"/>
              </a:ext>
            </a:extLst>
          </p:cNvPr>
          <p:cNvSpPr txBox="1"/>
          <p:nvPr/>
        </p:nvSpPr>
        <p:spPr>
          <a:xfrm>
            <a:off x="489756" y="1459658"/>
            <a:ext cx="6345687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kern="0">
                <a:solidFill>
                  <a:srgbClr val="6C1D35"/>
                </a:solidFill>
                <a:latin typeface="Calibri"/>
                <a:ea typeface="Calibri"/>
                <a:cs typeface="Calibri"/>
              </a:rPr>
              <a:t>Update Operations (UPDATE)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8861AA-F1C3-7E72-2B45-6858F8DA78E9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CRUD Operations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282B14-ADDB-14DE-DE97-4E4D7CD01620}"/>
              </a:ext>
            </a:extLst>
          </p:cNvPr>
          <p:cNvCxnSpPr/>
          <p:nvPr/>
        </p:nvCxnSpPr>
        <p:spPr>
          <a:xfrm flipV="1">
            <a:off x="312962" y="1151164"/>
            <a:ext cx="5494565" cy="7347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40859C-68CD-3CC5-30ED-D7729D668167}"/>
              </a:ext>
            </a:extLst>
          </p:cNvPr>
          <p:cNvCxnSpPr>
            <a:cxnSpLocks/>
          </p:cNvCxnSpPr>
          <p:nvPr/>
        </p:nvCxnSpPr>
        <p:spPr>
          <a:xfrm>
            <a:off x="496400" y="2033152"/>
            <a:ext cx="4526873" cy="111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7B0C1069-9515-6016-57DB-C8168D92C2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6245728"/>
            <a:ext cx="5916733" cy="619704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809E1E9-A5F4-DE01-D086-90FD8F1E8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866688"/>
              </p:ext>
            </p:extLst>
          </p:nvPr>
        </p:nvGraphicFramePr>
        <p:xfrm>
          <a:off x="488133" y="2296229"/>
          <a:ext cx="5147531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47531">
                  <a:extLst>
                    <a:ext uri="{9D8B030D-6E8A-4147-A177-3AD203B41FA5}">
                      <a16:colId xmlns:a16="http://schemas.microsoft.com/office/drawing/2014/main" val="342299629"/>
                    </a:ext>
                  </a:extLst>
                </a:gridCol>
              </a:tblGrid>
              <a:tr h="6548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Use the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updateMany()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and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$pull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command to remove the specific value “Workshop” from the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tags array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of all events.</a:t>
                      </a:r>
                      <a:endParaRPr lang="en-US" sz="2000"/>
                    </a:p>
                  </a:txBody>
                  <a:tcPr marL="68580" marR="68580" marT="0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5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25D6ED1-45E2-F96D-F0CA-AB28DAECE66F}"/>
              </a:ext>
            </a:extLst>
          </p:cNvPr>
          <p:cNvSpPr txBox="1"/>
          <p:nvPr/>
        </p:nvSpPr>
        <p:spPr>
          <a:xfrm>
            <a:off x="752112" y="4243263"/>
            <a:ext cx="5136548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db.events.updateMany(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{ </a:t>
            </a:r>
            <a:r>
              <a:rPr lang="en-US" sz="16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"tags"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6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"Workshop"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 },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{ </a:t>
            </a:r>
            <a:r>
              <a:rPr lang="en-US" sz="160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$pull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{ </a:t>
            </a:r>
            <a:r>
              <a:rPr lang="en-US" sz="16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"tags"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6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"Workshop"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 } }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)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AF71082-0E53-994E-1958-20667DDF6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7038" y="1328738"/>
            <a:ext cx="3886200" cy="2200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839FFF-F37E-535B-4185-2E74324CF9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800" y="3529013"/>
            <a:ext cx="3895725" cy="2181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8447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94F55-623C-7EA3-568C-2BB57C3D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03C7C6ED-E2BB-4324-E472-5AB58A1871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5655671"/>
            <a:ext cx="5427603" cy="1210674"/>
          </a:xfrm>
          <a:prstGeom prst="rect">
            <a:avLst/>
          </a:prstGeom>
        </p:spPr>
      </p:pic>
      <p:pic>
        <p:nvPicPr>
          <p:cNvPr id="7" name="Picture 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8AAF8E44-453C-D2E5-545F-F4C608958C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9" t="8946" r="-349" b="85019"/>
          <a:stretch>
            <a:fillRect/>
          </a:stretch>
        </p:blipFill>
        <p:spPr>
          <a:xfrm>
            <a:off x="490637" y="4092586"/>
            <a:ext cx="5294922" cy="1567091"/>
          </a:xfrm>
          <a:prstGeom prst="rect">
            <a:avLst/>
          </a:prstGeom>
        </p:spPr>
      </p:pic>
      <p:pic>
        <p:nvPicPr>
          <p:cNvPr id="27" name="Picture 2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311C4F0B-FD8B-EDBD-B090-E79FBFD3C4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6" b="84924"/>
          <a:stretch>
            <a:fillRect/>
          </a:stretch>
        </p:blipFill>
        <p:spPr>
          <a:xfrm>
            <a:off x="462940" y="3755416"/>
            <a:ext cx="5284264" cy="461583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D94BF4F5-546D-8F60-8547-71B9BB8B8B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11896801" y="4776738"/>
            <a:ext cx="293423" cy="1743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BCEAD6-A126-0269-3585-40FAC8EB0003}"/>
              </a:ext>
            </a:extLst>
          </p:cNvPr>
          <p:cNvSpPr txBox="1"/>
          <p:nvPr/>
        </p:nvSpPr>
        <p:spPr>
          <a:xfrm>
            <a:off x="489756" y="1459658"/>
            <a:ext cx="6345687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kern="0">
                <a:solidFill>
                  <a:srgbClr val="6C1D35"/>
                </a:solidFill>
                <a:latin typeface="Calibri"/>
                <a:ea typeface="Calibri"/>
                <a:cs typeface="Calibri"/>
              </a:rPr>
              <a:t>Delete Operation (DELETE)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368417-8EC0-3E0B-93DA-E2E6E3552DF7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CRUD Operations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64D01D-5A87-F59A-3FE7-6C5D61E24519}"/>
              </a:ext>
            </a:extLst>
          </p:cNvPr>
          <p:cNvCxnSpPr/>
          <p:nvPr/>
        </p:nvCxnSpPr>
        <p:spPr>
          <a:xfrm flipV="1">
            <a:off x="312962" y="1151164"/>
            <a:ext cx="5494565" cy="7347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3387D81-207A-A646-1D4B-C9F0E65CEF9D}"/>
              </a:ext>
            </a:extLst>
          </p:cNvPr>
          <p:cNvCxnSpPr>
            <a:cxnSpLocks/>
          </p:cNvCxnSpPr>
          <p:nvPr/>
        </p:nvCxnSpPr>
        <p:spPr>
          <a:xfrm>
            <a:off x="496400" y="2033152"/>
            <a:ext cx="4526873" cy="111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9D895107-1ACC-3A75-E2B6-775527CA90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6245728"/>
            <a:ext cx="5916733" cy="619704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FD7CC15-D472-8E1F-F60A-8C9CDF87E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505874"/>
              </p:ext>
            </p:extLst>
          </p:nvPr>
        </p:nvGraphicFramePr>
        <p:xfrm>
          <a:off x="488133" y="2296229"/>
          <a:ext cx="5147531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47531">
                  <a:extLst>
                    <a:ext uri="{9D8B030D-6E8A-4147-A177-3AD203B41FA5}">
                      <a16:colId xmlns:a16="http://schemas.microsoft.com/office/drawing/2014/main" val="342299629"/>
                    </a:ext>
                  </a:extLst>
                </a:gridCol>
              </a:tblGrid>
              <a:tr h="6548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Use the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deleteOne()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command to remove a specific document in “bookings” with specific objectID.</a:t>
                      </a:r>
                      <a:endParaRPr lang="en-US" sz="2000"/>
                    </a:p>
                  </a:txBody>
                  <a:tcPr marL="68580" marR="68580" marT="0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5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DC3F9D8-D8FD-3838-DEA0-E97885482E5B}"/>
              </a:ext>
            </a:extLst>
          </p:cNvPr>
          <p:cNvSpPr txBox="1"/>
          <p:nvPr/>
        </p:nvSpPr>
        <p:spPr>
          <a:xfrm>
            <a:off x="752112" y="4243263"/>
            <a:ext cx="5136548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db.bookings.deleteOne({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</a:t>
            </a:r>
            <a:r>
              <a:rPr lang="en-US" sz="16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"_id"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60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ObjectId(</a:t>
            </a:r>
            <a:r>
              <a:rPr lang="en-US" sz="16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"695adc92f084f228b404f080"</a:t>
            </a:r>
            <a:r>
              <a:rPr lang="en-US" sz="1600" kern="0">
                <a:solidFill>
                  <a:srgbClr val="F44747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)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})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0A6567E-C0B8-3642-4A91-98906693A6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925" y="2409825"/>
            <a:ext cx="3667125" cy="1838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7342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31350-DBBF-1DEB-7359-19FFF1FFA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E8370A3D-1699-B6B4-321C-E11B27A90A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5655671"/>
            <a:ext cx="5427603" cy="1210674"/>
          </a:xfrm>
          <a:prstGeom prst="rect">
            <a:avLst/>
          </a:prstGeom>
        </p:spPr>
      </p:pic>
      <p:pic>
        <p:nvPicPr>
          <p:cNvPr id="7" name="Picture 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00AE68E5-A7EB-19EC-13C6-3A757C684E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9" t="8946" r="-349" b="85019"/>
          <a:stretch>
            <a:fillRect/>
          </a:stretch>
        </p:blipFill>
        <p:spPr>
          <a:xfrm>
            <a:off x="489964" y="4092586"/>
            <a:ext cx="5284723" cy="1413825"/>
          </a:xfrm>
          <a:prstGeom prst="rect">
            <a:avLst/>
          </a:prstGeom>
        </p:spPr>
      </p:pic>
      <p:pic>
        <p:nvPicPr>
          <p:cNvPr id="27" name="Picture 26" descr="A black screen with a black border&#10;&#10;AI-generated content may be incorrect.">
            <a:extLst>
              <a:ext uri="{FF2B5EF4-FFF2-40B4-BE49-F238E27FC236}">
                <a16:creationId xmlns:a16="http://schemas.microsoft.com/office/drawing/2014/main" id="{C10424FF-9BF8-B9DF-49A6-9295747ACD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6" b="84924"/>
          <a:stretch>
            <a:fillRect/>
          </a:stretch>
        </p:blipFill>
        <p:spPr>
          <a:xfrm>
            <a:off x="462940" y="3755416"/>
            <a:ext cx="5284264" cy="461583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410188CD-1DCA-A2B5-51CA-1C33C9CB03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11896801" y="4776738"/>
            <a:ext cx="293423" cy="1743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ED3A4B-1CB5-E958-5B18-AA3FAE643CD9}"/>
              </a:ext>
            </a:extLst>
          </p:cNvPr>
          <p:cNvSpPr txBox="1"/>
          <p:nvPr/>
        </p:nvSpPr>
        <p:spPr>
          <a:xfrm>
            <a:off x="489756" y="1459658"/>
            <a:ext cx="6345687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b="1" kern="0">
                <a:solidFill>
                  <a:srgbClr val="6C1D35"/>
                </a:solidFill>
                <a:latin typeface="Calibri"/>
                <a:ea typeface="Calibri"/>
                <a:cs typeface="Calibri"/>
              </a:rPr>
              <a:t>Delete Operation (DELETE)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2F869E-867B-F274-D097-469438CF54A2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CRUD Operations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9AD7E0-4DD1-1C85-4CAC-A954FF33124B}"/>
              </a:ext>
            </a:extLst>
          </p:cNvPr>
          <p:cNvCxnSpPr/>
          <p:nvPr/>
        </p:nvCxnSpPr>
        <p:spPr>
          <a:xfrm flipV="1">
            <a:off x="312962" y="1151164"/>
            <a:ext cx="5494565" cy="7347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21B3BF4-439D-A1A2-E7BB-72984CFAE173}"/>
              </a:ext>
            </a:extLst>
          </p:cNvPr>
          <p:cNvCxnSpPr>
            <a:cxnSpLocks/>
          </p:cNvCxnSpPr>
          <p:nvPr/>
        </p:nvCxnSpPr>
        <p:spPr>
          <a:xfrm>
            <a:off x="496400" y="2033152"/>
            <a:ext cx="4526873" cy="11181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64E9BAA-2405-503C-BAD5-7163CDE852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72" t="12782" r="177" b="-752"/>
          <a:stretch>
            <a:fillRect/>
          </a:stretch>
        </p:blipFill>
        <p:spPr>
          <a:xfrm>
            <a:off x="-129" y="6245728"/>
            <a:ext cx="5916733" cy="619704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587D48F-F9A3-F214-DDEF-BDA1CEF53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245238"/>
              </p:ext>
            </p:extLst>
          </p:nvPr>
        </p:nvGraphicFramePr>
        <p:xfrm>
          <a:off x="488133" y="2296229"/>
          <a:ext cx="5147531" cy="91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47531">
                  <a:extLst>
                    <a:ext uri="{9D8B030D-6E8A-4147-A177-3AD203B41FA5}">
                      <a16:colId xmlns:a16="http://schemas.microsoft.com/office/drawing/2014/main" val="342299629"/>
                    </a:ext>
                  </a:extLst>
                </a:gridCol>
              </a:tblGrid>
              <a:tr h="65484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Use the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deleteMany()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command to remove multiple document that match the condition where address is “Melaka”.</a:t>
                      </a:r>
                      <a:endParaRPr lang="en-US" sz="2000"/>
                    </a:p>
                  </a:txBody>
                  <a:tcPr marL="68580" marR="68580" marT="0" marB="0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045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8A867C6-282E-1AC7-2CD0-C593C7DF4849}"/>
              </a:ext>
            </a:extLst>
          </p:cNvPr>
          <p:cNvSpPr txBox="1"/>
          <p:nvPr/>
        </p:nvSpPr>
        <p:spPr>
          <a:xfrm>
            <a:off x="752112" y="4243263"/>
            <a:ext cx="513654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db.participants.deleteMany({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  </a:t>
            </a:r>
            <a:r>
              <a:rPr lang="en-US" sz="1600" kern="0">
                <a:solidFill>
                  <a:srgbClr val="9CDCFE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"address"</a:t>
            </a:r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: </a:t>
            </a:r>
            <a:r>
              <a:rPr lang="en-US" sz="1600" kern="0">
                <a:solidFill>
                  <a:srgbClr val="CE9178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"Melaka"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kern="0">
                <a:solidFill>
                  <a:srgbClr val="CCCCCC"/>
                </a:solidFill>
                <a:highlight>
                  <a:srgbClr val="1F1F1F"/>
                </a:highlight>
                <a:latin typeface="Consolas"/>
                <a:ea typeface="+mn-lt"/>
                <a:cs typeface="+mn-lt"/>
              </a:rPr>
              <a:t>})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F06E3E-0AF7-46F7-89D4-FDCEBDD05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1350" y="2376488"/>
            <a:ext cx="3609975" cy="1847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8032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A97CF-A73C-722A-8754-59CF5176D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053791-10EC-D1B3-1C6C-C62D0CD9E604}"/>
              </a:ext>
            </a:extLst>
          </p:cNvPr>
          <p:cNvSpPr txBox="1"/>
          <p:nvPr/>
        </p:nvSpPr>
        <p:spPr>
          <a:xfrm>
            <a:off x="468529" y="1821732"/>
            <a:ext cx="543645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Arial"/>
              <a:buChar char="•"/>
            </a:pPr>
            <a:r>
              <a:rPr lang="en-MY" sz="1600">
                <a:latin typeface="Times New Roman"/>
                <a:ea typeface="Calibri"/>
                <a:cs typeface="Times New Roman"/>
              </a:rPr>
              <a:t>We use </a:t>
            </a:r>
            <a:r>
              <a:rPr lang="en-MY" sz="1600" b="1" err="1">
                <a:latin typeface="Times New Roman"/>
                <a:ea typeface="Calibri"/>
                <a:cs typeface="Times New Roman"/>
              </a:rPr>
              <a:t>createIndex</a:t>
            </a:r>
            <a:r>
              <a:rPr lang="en-MY" sz="1600" b="1">
                <a:latin typeface="Times New Roman"/>
                <a:ea typeface="Calibri"/>
                <a:cs typeface="Times New Roman"/>
              </a:rPr>
              <a:t>()</a:t>
            </a:r>
            <a:r>
              <a:rPr lang="en-MY" sz="1600">
                <a:latin typeface="Times New Roman"/>
                <a:ea typeface="Calibri"/>
                <a:cs typeface="Times New Roman"/>
              </a:rPr>
              <a:t> to create an index on the </a:t>
            </a:r>
            <a:r>
              <a:rPr lang="en-MY" sz="1600" b="1" err="1">
                <a:latin typeface="Times New Roman"/>
                <a:ea typeface="Calibri"/>
                <a:cs typeface="Times New Roman"/>
              </a:rPr>
              <a:t>eventId</a:t>
            </a:r>
            <a:r>
              <a:rPr lang="en-MY" sz="1600">
                <a:latin typeface="Times New Roman"/>
                <a:ea typeface="Calibri"/>
                <a:cs typeface="Times New Roman"/>
              </a:rPr>
              <a:t> field in the bookings collection to speed up queries that retrieve bookings based on event ID.</a:t>
            </a:r>
            <a:endParaRPr lang="en-US" sz="16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4" name="Title 3">
            <a:extLst>
              <a:ext uri="{FF2B5EF4-FFF2-40B4-BE49-F238E27FC236}">
                <a16:creationId xmlns:a16="http://schemas.microsoft.com/office/drawing/2014/main" id="{9708B6DA-7A78-3D34-B4A9-D067FB30D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680" y="393347"/>
            <a:ext cx="5426193" cy="808156"/>
          </a:xfrm>
        </p:spPr>
        <p:txBody>
          <a:bodyPr>
            <a:normAutofit/>
          </a:bodyPr>
          <a:lstStyle/>
          <a:p>
            <a:r>
              <a:rPr lang="en-US" sz="3200" b="1">
                <a:highlight>
                  <a:srgbClr val="FFFFFF"/>
                </a:highlight>
              </a:rPr>
              <a:t>Advanced:</a:t>
            </a:r>
            <a:r>
              <a:rPr lang="en-US" sz="3200" b="1">
                <a:solidFill>
                  <a:srgbClr val="1E293B"/>
                </a:solidFill>
                <a:highlight>
                  <a:srgbClr val="FFFFFF"/>
                </a:highlight>
              </a:rPr>
              <a:t> </a:t>
            </a:r>
            <a:r>
              <a:rPr lang="en-US" sz="3200" b="1">
                <a:solidFill>
                  <a:schemeClr val="accent1"/>
                </a:solidFill>
                <a:highlight>
                  <a:srgbClr val="FFFFFF"/>
                </a:highlight>
              </a:rPr>
              <a:t>Indexing Strategy</a:t>
            </a:r>
            <a:endParaRPr lang="en-US">
              <a:solidFill>
                <a:schemeClr val="accent1"/>
              </a:solidFill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CAB78A-3E15-F931-CCCF-B8059ECEC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018" y="6594272"/>
            <a:ext cx="1951264" cy="146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164F04-7A98-7029-7B9F-EB733A4B0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99" y="2723535"/>
            <a:ext cx="4210050" cy="438150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917D8735-736D-DA60-D9AC-833A405B47F3}"/>
              </a:ext>
            </a:extLst>
          </p:cNvPr>
          <p:cNvSpPr txBox="1">
            <a:spLocks/>
          </p:cNvSpPr>
          <p:nvPr/>
        </p:nvSpPr>
        <p:spPr>
          <a:xfrm>
            <a:off x="-348640" y="1185827"/>
            <a:ext cx="3556753" cy="533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1E293B"/>
                </a:solidFill>
                <a:highlight>
                  <a:srgbClr val="FFFFFF"/>
                </a:highlight>
                <a:ea typeface="Calibri"/>
                <a:cs typeface="Calibri"/>
              </a:rPr>
              <a:t>Single Index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799B89-B029-9544-7BE2-92A40BD80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77" y="3548697"/>
            <a:ext cx="3743325" cy="3905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2A78B0A-A4A3-E452-4F12-068FEB3D14C9}"/>
              </a:ext>
            </a:extLst>
          </p:cNvPr>
          <p:cNvSpPr txBox="1"/>
          <p:nvPr/>
        </p:nvSpPr>
        <p:spPr>
          <a:xfrm>
            <a:off x="325120" y="4038600"/>
            <a:ext cx="5567680" cy="8411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MY" sz="1600">
                <a:solidFill>
                  <a:srgbClr val="000000"/>
                </a:solidFill>
                <a:latin typeface="Times New Roman"/>
                <a:ea typeface="DengXian"/>
              </a:rPr>
              <a:t>We use </a:t>
            </a:r>
            <a:r>
              <a:rPr lang="en-MY" sz="1600" b="1" err="1">
                <a:solidFill>
                  <a:srgbClr val="000000"/>
                </a:solidFill>
                <a:latin typeface="Times New Roman"/>
                <a:ea typeface="DengXian"/>
              </a:rPr>
              <a:t>createIndex</a:t>
            </a:r>
            <a:r>
              <a:rPr lang="en-MY" sz="1600" b="1">
                <a:solidFill>
                  <a:srgbClr val="000000"/>
                </a:solidFill>
                <a:latin typeface="Times New Roman"/>
                <a:ea typeface="DengXian"/>
              </a:rPr>
              <a:t>()</a:t>
            </a:r>
            <a:r>
              <a:rPr lang="en-MY" sz="1600">
                <a:solidFill>
                  <a:srgbClr val="000000"/>
                </a:solidFill>
                <a:latin typeface="Times New Roman"/>
                <a:ea typeface="DengXian"/>
              </a:rPr>
              <a:t> to create an index on the </a:t>
            </a:r>
            <a:r>
              <a:rPr lang="en-MY" sz="1600" b="1">
                <a:solidFill>
                  <a:srgbClr val="000000"/>
                </a:solidFill>
                <a:latin typeface="Times New Roman"/>
                <a:ea typeface="DengXian"/>
              </a:rPr>
              <a:t>category</a:t>
            </a:r>
            <a:r>
              <a:rPr lang="en-MY" sz="1600">
                <a:solidFill>
                  <a:srgbClr val="000000"/>
                </a:solidFill>
                <a:latin typeface="Times New Roman"/>
                <a:ea typeface="DengXian"/>
              </a:rPr>
              <a:t> field in the events collection to improve query performance when filtering events by category.</a:t>
            </a:r>
            <a:r>
              <a:rPr sz="1600"/>
              <a:t> 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BC4C33-3CAE-8060-6964-2FFD4C689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05" y="4980622"/>
            <a:ext cx="4324350" cy="3714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540D15-5BE1-724F-40CA-99593311B7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62" y="5710237"/>
            <a:ext cx="3648075" cy="314325"/>
          </a:xfrm>
          <a:prstGeom prst="rect">
            <a:avLst/>
          </a:prstGeom>
        </p:spPr>
      </p:pic>
      <p:sp>
        <p:nvSpPr>
          <p:cNvPr id="14" name="Title 3">
            <a:extLst>
              <a:ext uri="{FF2B5EF4-FFF2-40B4-BE49-F238E27FC236}">
                <a16:creationId xmlns:a16="http://schemas.microsoft.com/office/drawing/2014/main" id="{8E257804-7895-10E8-BA9E-3FAD524BB11A}"/>
              </a:ext>
            </a:extLst>
          </p:cNvPr>
          <p:cNvSpPr txBox="1">
            <a:spLocks/>
          </p:cNvSpPr>
          <p:nvPr/>
        </p:nvSpPr>
        <p:spPr>
          <a:xfrm>
            <a:off x="6783681" y="1185827"/>
            <a:ext cx="3556753" cy="533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1E293B"/>
                </a:solidFill>
                <a:highlight>
                  <a:srgbClr val="FFFFFF"/>
                </a:highlight>
                <a:ea typeface="Calibri"/>
                <a:cs typeface="Calibri"/>
              </a:rPr>
              <a:t>Compound Index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3EB6DE-D22C-C175-A641-4E02C3CE9ADE}"/>
              </a:ext>
            </a:extLst>
          </p:cNvPr>
          <p:cNvSpPr txBox="1"/>
          <p:nvPr/>
        </p:nvSpPr>
        <p:spPr>
          <a:xfrm>
            <a:off x="6431280" y="1813560"/>
            <a:ext cx="501904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MY" sz="1600">
                <a:solidFill>
                  <a:srgbClr val="000000"/>
                </a:solidFill>
                <a:latin typeface="Times New Roman"/>
                <a:ea typeface="Calibri"/>
              </a:rPr>
              <a:t>We use </a:t>
            </a:r>
            <a:r>
              <a:rPr lang="en-MY" sz="1600" b="1" err="1">
                <a:solidFill>
                  <a:srgbClr val="000000"/>
                </a:solidFill>
                <a:latin typeface="Times New Roman"/>
                <a:ea typeface="Calibri"/>
              </a:rPr>
              <a:t>createIndex</a:t>
            </a:r>
            <a:r>
              <a:rPr lang="en-MY" sz="1600" b="1">
                <a:solidFill>
                  <a:srgbClr val="000000"/>
                </a:solidFill>
                <a:latin typeface="Times New Roman"/>
                <a:ea typeface="Calibri"/>
              </a:rPr>
              <a:t>()</a:t>
            </a:r>
            <a:r>
              <a:rPr lang="en-MY" sz="1600">
                <a:solidFill>
                  <a:srgbClr val="000000"/>
                </a:solidFill>
                <a:latin typeface="Times New Roman"/>
                <a:ea typeface="Calibri"/>
              </a:rPr>
              <a:t> to create a compound index on the </a:t>
            </a:r>
            <a:r>
              <a:rPr lang="en-MY" sz="1600" b="1" err="1">
                <a:solidFill>
                  <a:srgbClr val="000000"/>
                </a:solidFill>
                <a:latin typeface="Times New Roman"/>
                <a:ea typeface="Calibri"/>
              </a:rPr>
              <a:t>eventId</a:t>
            </a:r>
            <a:r>
              <a:rPr lang="en-MY" sz="1600">
                <a:solidFill>
                  <a:srgbClr val="000000"/>
                </a:solidFill>
                <a:latin typeface="Times New Roman"/>
                <a:ea typeface="Calibri"/>
              </a:rPr>
              <a:t> and </a:t>
            </a:r>
            <a:r>
              <a:rPr lang="en-MY" sz="1600" b="1" err="1">
                <a:solidFill>
                  <a:srgbClr val="000000"/>
                </a:solidFill>
                <a:latin typeface="Times New Roman"/>
                <a:ea typeface="Calibri"/>
              </a:rPr>
              <a:t>bookingDate</a:t>
            </a:r>
            <a:r>
              <a:rPr lang="en-MY" sz="1600">
                <a:solidFill>
                  <a:srgbClr val="000000"/>
                </a:solidFill>
                <a:latin typeface="Times New Roman"/>
                <a:ea typeface="Calibri"/>
              </a:rPr>
              <a:t> fields to optimize queries that retrieve bookings for a specific event and sort them by booking date.</a:t>
            </a:r>
            <a:r>
              <a:rPr sz="1600"/>
              <a:t> </a:t>
            </a:r>
            <a:endParaRPr lang="en-US" sz="16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6" name="Picture 15" descr="A white text on a blue background&#10;&#10;AI-generated content may be incorrect.">
            <a:extLst>
              <a:ext uri="{FF2B5EF4-FFF2-40B4-BE49-F238E27FC236}">
                <a16:creationId xmlns:a16="http://schemas.microsoft.com/office/drawing/2014/main" id="{F602356B-EA73-DCF4-0E7E-FC5C7ED734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8150" y="3005137"/>
            <a:ext cx="4102100" cy="5429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28DF5D1-9814-E3B9-DC10-B74953DB14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4500" y="4020820"/>
            <a:ext cx="3276600" cy="38100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A56FE67-87FC-CA78-44DB-1C515BB5AAE8}"/>
              </a:ext>
            </a:extLst>
          </p:cNvPr>
          <p:cNvCxnSpPr/>
          <p:nvPr/>
        </p:nvCxnSpPr>
        <p:spPr>
          <a:xfrm>
            <a:off x="5947586" y="1450901"/>
            <a:ext cx="4577" cy="441641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91207C4-409F-4E90-0898-C9D0B2334857}"/>
              </a:ext>
            </a:extLst>
          </p:cNvPr>
          <p:cNvSpPr txBox="1"/>
          <p:nvPr/>
        </p:nvSpPr>
        <p:spPr>
          <a:xfrm>
            <a:off x="451352" y="3215491"/>
            <a:ext cx="9607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Times New Roman"/>
                <a:ea typeface="Calibri"/>
                <a:cs typeface="Calibri"/>
              </a:rPr>
              <a:t>Output:</a:t>
            </a:r>
            <a:endParaRPr lang="en-US">
              <a:latin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32B9D5-A93F-9D12-29CA-6637BB844A0B}"/>
              </a:ext>
            </a:extLst>
          </p:cNvPr>
          <p:cNvSpPr txBox="1"/>
          <p:nvPr/>
        </p:nvSpPr>
        <p:spPr>
          <a:xfrm>
            <a:off x="6781032" y="3662530"/>
            <a:ext cx="10521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Times New Roman"/>
                <a:ea typeface="Calibri"/>
                <a:cs typeface="Calibri"/>
              </a:rPr>
              <a:t>Output:</a:t>
            </a:r>
            <a:endParaRPr lang="en-US">
              <a:latin typeface="Times New Roman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E7C4B4-98E3-4EAB-DF10-680854FA92AF}"/>
              </a:ext>
            </a:extLst>
          </p:cNvPr>
          <p:cNvSpPr txBox="1"/>
          <p:nvPr/>
        </p:nvSpPr>
        <p:spPr>
          <a:xfrm>
            <a:off x="471672" y="5389730"/>
            <a:ext cx="84898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Times New Roman"/>
                <a:ea typeface="Calibri"/>
                <a:cs typeface="Calibri"/>
              </a:rPr>
              <a:t>Output:</a:t>
            </a:r>
            <a:endParaRPr lang="en-US">
              <a:latin typeface="Times New Roman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9AB88C-67C9-E2A0-9188-DED53FD51CDF}"/>
              </a:ext>
            </a:extLst>
          </p:cNvPr>
          <p:cNvCxnSpPr>
            <a:cxnSpLocks/>
          </p:cNvCxnSpPr>
          <p:nvPr/>
        </p:nvCxnSpPr>
        <p:spPr>
          <a:xfrm flipV="1">
            <a:off x="329105" y="4018191"/>
            <a:ext cx="5430017" cy="5399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069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85872-D1B5-459C-8EAA-C59D420BB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3D8C31-64F3-4993-39A1-6759A3DD1C3F}"/>
              </a:ext>
            </a:extLst>
          </p:cNvPr>
          <p:cNvSpPr txBox="1"/>
          <p:nvPr/>
        </p:nvSpPr>
        <p:spPr>
          <a:xfrm>
            <a:off x="327418" y="1182028"/>
            <a:ext cx="999603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Arial"/>
              <a:buChar char="•"/>
            </a:pPr>
            <a:r>
              <a:rPr lang="en-MY" sz="1600">
                <a:latin typeface="Times New Roman"/>
                <a:ea typeface="+mn-lt"/>
                <a:cs typeface="Times New Roman"/>
              </a:rPr>
              <a:t>Use the </a:t>
            </a:r>
            <a:r>
              <a:rPr lang="en-MY" sz="1600">
                <a:latin typeface="Times New Roman"/>
                <a:ea typeface="Calibri"/>
                <a:cs typeface="Times New Roman"/>
              </a:rPr>
              <a:t>$match</a:t>
            </a:r>
            <a:r>
              <a:rPr lang="en-MY" sz="1600">
                <a:latin typeface="Times New Roman"/>
                <a:ea typeface="+mn-lt"/>
                <a:cs typeface="Times New Roman"/>
              </a:rPr>
              <a:t> stage to filter events that belong to the Technology category, followed by the </a:t>
            </a:r>
            <a:r>
              <a:rPr lang="en-MY" sz="1600">
                <a:latin typeface="Times New Roman"/>
                <a:ea typeface="Calibri"/>
                <a:cs typeface="Times New Roman"/>
              </a:rPr>
              <a:t>$group</a:t>
            </a:r>
            <a:r>
              <a:rPr lang="en-MY" sz="1600">
                <a:latin typeface="Times New Roman"/>
                <a:ea typeface="+mn-lt"/>
                <a:cs typeface="Times New Roman"/>
              </a:rPr>
              <a:t> stage to calculate the average event price and total number of events in that category.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4" name="Title 3">
            <a:extLst>
              <a:ext uri="{FF2B5EF4-FFF2-40B4-BE49-F238E27FC236}">
                <a16:creationId xmlns:a16="http://schemas.microsoft.com/office/drawing/2014/main" id="{BDB8CAEA-55D4-743F-43DC-859014A18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6" y="383940"/>
            <a:ext cx="6874933" cy="798749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rgbClr val="1E293B"/>
                </a:solidFill>
                <a:highlight>
                  <a:srgbClr val="FFFFFF"/>
                </a:highlight>
              </a:rPr>
              <a:t>Advanced: </a:t>
            </a:r>
            <a:r>
              <a:rPr lang="en-US" sz="3600" b="1">
                <a:solidFill>
                  <a:schemeClr val="accent1"/>
                </a:solidFill>
                <a:highlight>
                  <a:srgbClr val="FFFFFF"/>
                </a:highlight>
                <a:ea typeface="+mn-lt"/>
                <a:cs typeface="+mn-lt"/>
              </a:rPr>
              <a:t>Aggregation Pipelines</a:t>
            </a:r>
            <a:r>
              <a:rPr lang="en-US" sz="3200">
                <a:solidFill>
                  <a:srgbClr val="1E293B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F33AA6-AB77-A5DC-8647-F192B4B53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018" y="6594272"/>
            <a:ext cx="1951264" cy="1468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E249D0-C499-EFBA-7A26-A117E360D283}"/>
              </a:ext>
            </a:extLst>
          </p:cNvPr>
          <p:cNvSpPr txBox="1"/>
          <p:nvPr/>
        </p:nvSpPr>
        <p:spPr>
          <a:xfrm>
            <a:off x="325120" y="3540761"/>
            <a:ext cx="1049377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MY" sz="1600">
                <a:latin typeface="Times New Roman"/>
                <a:ea typeface="DengXian"/>
                <a:cs typeface="Times New Roman"/>
              </a:rPr>
              <a:t>Use the $group stage to calculate the total number of bookings for each event, followed by the $sort stage to rank events based on the number of bookings in descending order.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98ABE8-1AFB-D418-3C10-E31ACE59BA26}"/>
              </a:ext>
            </a:extLst>
          </p:cNvPr>
          <p:cNvSpPr txBox="1"/>
          <p:nvPr/>
        </p:nvSpPr>
        <p:spPr>
          <a:xfrm>
            <a:off x="5277352" y="1766750"/>
            <a:ext cx="9607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Times New Roman"/>
                <a:ea typeface="Calibri"/>
                <a:cs typeface="Calibri"/>
              </a:rPr>
              <a:t>Output:</a:t>
            </a:r>
            <a:endParaRPr lang="en-US">
              <a:latin typeface="Times New Roman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3A8CE0-8649-C86A-162A-7CD582E5B1F6}"/>
              </a:ext>
            </a:extLst>
          </p:cNvPr>
          <p:cNvSpPr txBox="1"/>
          <p:nvPr/>
        </p:nvSpPr>
        <p:spPr>
          <a:xfrm>
            <a:off x="5325893" y="4129137"/>
            <a:ext cx="12252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Times New Roman"/>
                <a:ea typeface="Calibri"/>
                <a:cs typeface="Calibri"/>
              </a:rPr>
              <a:t>Output:</a:t>
            </a:r>
            <a:endParaRPr lang="en-US">
              <a:latin typeface="Times New Roman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11BEE9-9A7D-212D-0791-7FD460ED3DE9}"/>
              </a:ext>
            </a:extLst>
          </p:cNvPr>
          <p:cNvCxnSpPr>
            <a:cxnSpLocks/>
          </p:cNvCxnSpPr>
          <p:nvPr/>
        </p:nvCxnSpPr>
        <p:spPr>
          <a:xfrm>
            <a:off x="329105" y="3404254"/>
            <a:ext cx="10632313" cy="30677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 shot of text&#10;&#10;AI-generated content may be incorrect.">
            <a:extLst>
              <a:ext uri="{FF2B5EF4-FFF2-40B4-BE49-F238E27FC236}">
                <a16:creationId xmlns:a16="http://schemas.microsoft.com/office/drawing/2014/main" id="{EE70795D-2929-CCE2-B1F1-1960DFA58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51" y="1786291"/>
            <a:ext cx="2026121" cy="1385123"/>
          </a:xfrm>
          <a:prstGeom prst="rect">
            <a:avLst/>
          </a:prstGeom>
        </p:spPr>
      </p:pic>
      <p:pic>
        <p:nvPicPr>
          <p:cNvPr id="26" name="Picture 2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3A3995C3-3CC7-0A23-704F-CE6DC62EB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34" y="4219928"/>
            <a:ext cx="3787540" cy="1240367"/>
          </a:xfrm>
          <a:prstGeom prst="rect">
            <a:avLst/>
          </a:prstGeom>
        </p:spPr>
      </p:pic>
      <p:pic>
        <p:nvPicPr>
          <p:cNvPr id="27" name="Picture 2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601888F9-9222-FEDE-42D0-2F98A77FA7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760" y="3860741"/>
            <a:ext cx="2051520" cy="2607851"/>
          </a:xfrm>
          <a:prstGeom prst="rect">
            <a:avLst/>
          </a:prstGeom>
        </p:spPr>
      </p:pic>
      <p:pic>
        <p:nvPicPr>
          <p:cNvPr id="28" name="Picture 2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488795F-7730-D3D9-88F0-D2E891D2B2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486" y="1717029"/>
            <a:ext cx="2701102" cy="155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362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2FB36276-F9FD-ADA2-1985-72493E772D6E}"/>
              </a:ext>
            </a:extLst>
          </p:cNvPr>
          <p:cNvSpPr txBox="1"/>
          <p:nvPr/>
        </p:nvSpPr>
        <p:spPr>
          <a:xfrm>
            <a:off x="2070402" y="1184112"/>
            <a:ext cx="1956049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000" b="1">
                <a:ea typeface="Calibri"/>
                <a:cs typeface="Calibri"/>
              </a:rPr>
              <a:t>Ascending Order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1C943F-9542-6128-6BB1-F29077B28134}"/>
              </a:ext>
            </a:extLst>
          </p:cNvPr>
          <p:cNvSpPr txBox="1"/>
          <p:nvPr/>
        </p:nvSpPr>
        <p:spPr>
          <a:xfrm>
            <a:off x="6490978" y="1712675"/>
            <a:ext cx="5559268" cy="307777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We sort the </a:t>
            </a:r>
            <a:r>
              <a:rPr lang="en-US" sz="1400">
                <a:latin typeface="Calibri"/>
                <a:ea typeface="Roboto Condensed Light"/>
                <a:cs typeface="Roboto Condensed Light"/>
              </a:rPr>
              <a:t>bookings</a:t>
            </a:r>
            <a:r>
              <a:rPr lang="en-US" sz="1400">
                <a:ea typeface="+mn-lt"/>
                <a:cs typeface="+mn-lt"/>
              </a:rPr>
              <a:t> collection by </a:t>
            </a:r>
            <a:r>
              <a:rPr lang="en-US" sz="1400" err="1">
                <a:latin typeface="Calibri"/>
                <a:ea typeface="Roboto Condensed Light"/>
                <a:cs typeface="Roboto Condensed Light"/>
              </a:rPr>
              <a:t>payment.amount</a:t>
            </a:r>
            <a:r>
              <a:rPr lang="en-US" sz="1400">
                <a:ea typeface="+mn-lt"/>
                <a:cs typeface="+mn-lt"/>
              </a:rPr>
              <a:t> in descending order.</a:t>
            </a:r>
            <a:endParaRPr lang="en-US" sz="1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5A5631-73CA-C88D-BA6A-383F3BC646BC}"/>
              </a:ext>
            </a:extLst>
          </p:cNvPr>
          <p:cNvSpPr txBox="1"/>
          <p:nvPr/>
        </p:nvSpPr>
        <p:spPr>
          <a:xfrm>
            <a:off x="497098" y="1710534"/>
            <a:ext cx="585084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We sort the </a:t>
            </a:r>
            <a:r>
              <a:rPr lang="en-US" sz="1400">
                <a:latin typeface="Calibri"/>
                <a:ea typeface="Calibri"/>
                <a:cs typeface="Calibri"/>
              </a:rPr>
              <a:t>events</a:t>
            </a:r>
            <a:r>
              <a:rPr lang="en-US" sz="1400">
                <a:ea typeface="+mn-lt"/>
                <a:cs typeface="+mn-lt"/>
              </a:rPr>
              <a:t> collection by the </a:t>
            </a:r>
            <a:r>
              <a:rPr lang="en-US" sz="1400">
                <a:latin typeface="Calibri"/>
                <a:ea typeface="Calibri"/>
                <a:cs typeface="Calibri"/>
              </a:rPr>
              <a:t>price</a:t>
            </a:r>
            <a:r>
              <a:rPr lang="en-US" sz="1400">
                <a:ea typeface="+mn-lt"/>
                <a:cs typeface="+mn-lt"/>
              </a:rPr>
              <a:t> field in ascending order.</a:t>
            </a:r>
            <a:endParaRPr lang="en-US" sz="1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6ED008-6377-CC13-74A9-180F8ABA19C7}"/>
              </a:ext>
            </a:extLst>
          </p:cNvPr>
          <p:cNvSpPr txBox="1"/>
          <p:nvPr/>
        </p:nvSpPr>
        <p:spPr>
          <a:xfrm>
            <a:off x="7984331" y="1182483"/>
            <a:ext cx="209230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000" b="1">
                <a:ea typeface="Calibri"/>
                <a:cs typeface="Calibri"/>
              </a:rPr>
              <a:t>Descending Order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CDDE96C-C2E5-7FF4-271A-DCD89DD27AE9}"/>
              </a:ext>
            </a:extLst>
          </p:cNvPr>
          <p:cNvCxnSpPr/>
          <p:nvPr/>
        </p:nvCxnSpPr>
        <p:spPr>
          <a:xfrm>
            <a:off x="6145511" y="1861089"/>
            <a:ext cx="0" cy="425805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E8E74E3-D0F6-B1D8-B1C2-A1D968A23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018" y="6594272"/>
            <a:ext cx="1951264" cy="1468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6E43700-0ADD-7A20-36F0-0FC099ABE676}"/>
              </a:ext>
            </a:extLst>
          </p:cNvPr>
          <p:cNvSpPr txBox="1"/>
          <p:nvPr/>
        </p:nvSpPr>
        <p:spPr>
          <a:xfrm>
            <a:off x="495408" y="345255"/>
            <a:ext cx="630450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 kern="0">
                <a:solidFill>
                  <a:srgbClr val="6C1D35"/>
                </a:solidFill>
              </a:rPr>
              <a:t>Sorting Demonstration</a:t>
            </a:r>
            <a:endParaRPr lang="en-US" sz="4000" b="1" kern="0">
              <a:solidFill>
                <a:srgbClr val="6C1D35"/>
              </a:solidFill>
              <a:ea typeface="Calibri"/>
              <a:cs typeface="Calibri"/>
            </a:endParaRPr>
          </a:p>
        </p:txBody>
      </p:sp>
      <p:pic>
        <p:nvPicPr>
          <p:cNvPr id="18" name="Picture 1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429B452-58D1-CDA2-50A8-2CFAFA6E1B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6" t="594" r="-1140" b="34169"/>
          <a:stretch>
            <a:fillRect/>
          </a:stretch>
        </p:blipFill>
        <p:spPr>
          <a:xfrm>
            <a:off x="368484" y="3505753"/>
            <a:ext cx="2550271" cy="2662841"/>
          </a:xfrm>
          <a:prstGeom prst="rect">
            <a:avLst/>
          </a:prstGeom>
        </p:spPr>
      </p:pic>
      <p:pic>
        <p:nvPicPr>
          <p:cNvPr id="19" name="Picture 18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04F8AFC-E8AA-9C88-827C-6BB16871FC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9" t="60035" r="-78" b="-1281"/>
          <a:stretch>
            <a:fillRect/>
          </a:stretch>
        </p:blipFill>
        <p:spPr>
          <a:xfrm>
            <a:off x="9445839" y="4413398"/>
            <a:ext cx="2303230" cy="1586087"/>
          </a:xfrm>
          <a:prstGeom prst="rect">
            <a:avLst/>
          </a:prstGeom>
        </p:spPr>
      </p:pic>
      <p:pic>
        <p:nvPicPr>
          <p:cNvPr id="20" name="Picture 19" descr="A close-up of a word&#10;&#10;AI-generated content may be incorrect.">
            <a:extLst>
              <a:ext uri="{FF2B5EF4-FFF2-40B4-BE49-F238E27FC236}">
                <a16:creationId xmlns:a16="http://schemas.microsoft.com/office/drawing/2014/main" id="{C1B49083-4D7A-02BA-1427-2702E92629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515" y="2239482"/>
            <a:ext cx="5249382" cy="781050"/>
          </a:xfrm>
          <a:prstGeom prst="rect">
            <a:avLst/>
          </a:prstGeom>
        </p:spPr>
      </p:pic>
      <p:pic>
        <p:nvPicPr>
          <p:cNvPr id="2" name="Picture 1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A9796CA-D760-A08D-A2E4-6D4A62C68C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150" r="-36" b="108"/>
          <a:stretch>
            <a:fillRect/>
          </a:stretch>
        </p:blipFill>
        <p:spPr>
          <a:xfrm>
            <a:off x="3267406" y="4031179"/>
            <a:ext cx="2560042" cy="1540552"/>
          </a:xfrm>
          <a:prstGeom prst="rect">
            <a:avLst/>
          </a:prstGeom>
        </p:spPr>
      </p:pic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3CF12D1-AB1E-D412-01F7-0542EE1279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9388" y="2395538"/>
            <a:ext cx="5000625" cy="714375"/>
          </a:xfrm>
          <a:prstGeom prst="rect">
            <a:avLst/>
          </a:prstGeom>
        </p:spPr>
      </p:pic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143E439-9CBD-048F-8543-D929AA79C0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608" b="34988"/>
          <a:stretch>
            <a:fillRect/>
          </a:stretch>
        </p:blipFill>
        <p:spPr>
          <a:xfrm>
            <a:off x="6495470" y="3434903"/>
            <a:ext cx="2531820" cy="268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695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2724B-3470-B1A6-E710-7C5D4D86C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8F988181-8C64-0F6A-5742-0F13F85BDF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2" t="12782" r="177" b="-752"/>
          <a:stretch>
            <a:fillRect/>
          </a:stretch>
        </p:blipFill>
        <p:spPr>
          <a:xfrm>
            <a:off x="-128" y="5655671"/>
            <a:ext cx="5427603" cy="1210674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C71FE4B7-1693-882F-C387-77DC5376B2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2" t="12782" r="177" b="-752"/>
          <a:stretch>
            <a:fillRect/>
          </a:stretch>
        </p:blipFill>
        <p:spPr>
          <a:xfrm>
            <a:off x="11884953" y="4851337"/>
            <a:ext cx="305270" cy="1612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648A65-238A-41F6-3028-CA3A6C94B3DB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Contribution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A80EE09-6538-50C0-E554-90E4B2E86252}"/>
              </a:ext>
            </a:extLst>
          </p:cNvPr>
          <p:cNvCxnSpPr/>
          <p:nvPr/>
        </p:nvCxnSpPr>
        <p:spPr>
          <a:xfrm flipV="1">
            <a:off x="312962" y="1205592"/>
            <a:ext cx="11579679" cy="1905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3098134-74F9-B0BD-D127-E8C7B17E58FB}"/>
              </a:ext>
            </a:extLst>
          </p:cNvPr>
          <p:cNvSpPr txBox="1"/>
          <p:nvPr/>
        </p:nvSpPr>
        <p:spPr>
          <a:xfrm>
            <a:off x="1187003" y="5191358"/>
            <a:ext cx="247431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  <a:latin typeface="Aptos"/>
              </a:rPr>
              <a:t>POH LOK YEE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60570-2DFE-226D-0453-848ADC159CBA}"/>
              </a:ext>
            </a:extLst>
          </p:cNvPr>
          <p:cNvSpPr txBox="1"/>
          <p:nvPr/>
        </p:nvSpPr>
        <p:spPr>
          <a:xfrm>
            <a:off x="4520753" y="2396532"/>
            <a:ext cx="69912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MY">
              <a:latin typeface="Calibri"/>
              <a:ea typeface="+mn-lt"/>
              <a:cs typeface="+mn-lt"/>
            </a:endParaRPr>
          </a:p>
        </p:txBody>
      </p:sp>
      <p:pic>
        <p:nvPicPr>
          <p:cNvPr id="6" name="Picture 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009429CE-8401-8AA3-E42B-09E7DAE68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2" t="12782" r="177" b="-752"/>
          <a:stretch>
            <a:fillRect/>
          </a:stretch>
        </p:blipFill>
        <p:spPr>
          <a:xfrm>
            <a:off x="-129" y="6187113"/>
            <a:ext cx="5438041" cy="678319"/>
          </a:xfrm>
          <a:prstGeom prst="rect">
            <a:avLst/>
          </a:prstGeom>
        </p:spPr>
      </p:pic>
      <p:pic>
        <p:nvPicPr>
          <p:cNvPr id="2" name="Picture 1" descr="A person with long hair wearing a pink shirt&#10;&#10;AI-generated content may be incorrect.">
            <a:extLst>
              <a:ext uri="{FF2B5EF4-FFF2-40B4-BE49-F238E27FC236}">
                <a16:creationId xmlns:a16="http://schemas.microsoft.com/office/drawing/2014/main" id="{0C369008-E014-0F73-9358-5F1A6BAEA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003" y="2002746"/>
            <a:ext cx="2474319" cy="31876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4E883B-6170-3918-FD87-13A94C85D006}"/>
              </a:ext>
            </a:extLst>
          </p:cNvPr>
          <p:cNvSpPr txBox="1"/>
          <p:nvPr/>
        </p:nvSpPr>
        <p:spPr>
          <a:xfrm>
            <a:off x="4520753" y="1930162"/>
            <a:ext cx="6786547" cy="34778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As a </a:t>
            </a:r>
            <a:r>
              <a:rPr lang="en-US" sz="2000" b="1">
                <a:ea typeface="+mn-lt"/>
                <a:cs typeface="+mn-lt"/>
              </a:rPr>
              <a:t>database </a:t>
            </a:r>
            <a:r>
              <a:rPr lang="en-US" sz="2000" b="1">
                <a:ea typeface="Calibri"/>
                <a:cs typeface="Calibri"/>
              </a:rPr>
              <a:t>designer</a:t>
            </a:r>
            <a:endParaRPr lang="en-US"/>
          </a:p>
          <a:p>
            <a:endParaRPr lang="en-US" sz="2000"/>
          </a:p>
          <a:p>
            <a:r>
              <a:rPr lang="en-US" sz="2000"/>
              <a:t>R</a:t>
            </a:r>
            <a:r>
              <a:rPr lang="en-US" sz="2000">
                <a:ea typeface="+mn-lt"/>
                <a:cs typeface="+mn-lt"/>
              </a:rPr>
              <a:t>esponsible to </a:t>
            </a:r>
            <a:r>
              <a:rPr lang="en-US" sz="2000" b="1">
                <a:ea typeface="+mn-lt"/>
                <a:cs typeface="+mn-lt"/>
              </a:rPr>
              <a:t>design</a:t>
            </a:r>
            <a:r>
              <a:rPr lang="en-US" sz="2000">
                <a:ea typeface="+mn-lt"/>
                <a:cs typeface="+mn-lt"/>
              </a:rPr>
              <a:t> the overall NoSQL </a:t>
            </a:r>
            <a:r>
              <a:rPr lang="en-US" sz="2000" b="1">
                <a:ea typeface="+mn-lt"/>
                <a:cs typeface="+mn-lt"/>
              </a:rPr>
              <a:t>database</a:t>
            </a:r>
            <a:r>
              <a:rPr lang="en-US" sz="2000">
                <a:ea typeface="+mn-lt"/>
                <a:cs typeface="+mn-lt"/>
              </a:rPr>
              <a:t> for the event booking system.</a:t>
            </a:r>
          </a:p>
          <a:p>
            <a:endParaRPr lang="en-US" sz="2000"/>
          </a:p>
          <a:p>
            <a:r>
              <a:rPr lang="en-US" sz="2000" b="1"/>
              <a:t>Created</a:t>
            </a:r>
            <a:r>
              <a:rPr lang="en-US" sz="2000" b="1">
                <a:latin typeface="Calibri"/>
                <a:ea typeface="+mn-lt"/>
                <a:cs typeface="+mn-lt"/>
              </a:rPr>
              <a:t> collections</a:t>
            </a:r>
            <a:r>
              <a:rPr lang="en-US" sz="2000">
                <a:latin typeface="Calibri"/>
                <a:ea typeface="+mn-lt"/>
                <a:cs typeface="+mn-lt"/>
              </a:rPr>
              <a:t> for </a:t>
            </a:r>
            <a:r>
              <a:rPr lang="en-US" sz="2000">
                <a:ea typeface="+mn-lt"/>
                <a:cs typeface="+mn-lt"/>
              </a:rPr>
              <a:t>organizers, events, participants, and bookings, with </a:t>
            </a:r>
            <a:r>
              <a:rPr lang="en-US" sz="2000" b="1">
                <a:ea typeface="+mn-lt"/>
                <a:cs typeface="+mn-lt"/>
              </a:rPr>
              <a:t>sample documents</a:t>
            </a:r>
            <a:r>
              <a:rPr lang="en-US" sz="2000">
                <a:ea typeface="+mn-lt"/>
                <a:cs typeface="+mn-lt"/>
              </a:rPr>
              <a:t> using arrays, embedded documents, and </a:t>
            </a:r>
            <a:r>
              <a:rPr lang="en-US" sz="2000">
                <a:latin typeface="Calibri"/>
                <a:ea typeface="Calibri"/>
                <a:cs typeface="Calibri"/>
              </a:rPr>
              <a:t>references</a:t>
            </a:r>
            <a:r>
              <a:rPr lang="en-US" sz="2000">
                <a:ea typeface="+mn-lt"/>
                <a:cs typeface="+mn-lt"/>
              </a:rPr>
              <a:t>. </a:t>
            </a:r>
          </a:p>
          <a:p>
            <a:endParaRPr lang="en-US" sz="2000"/>
          </a:p>
          <a:p>
            <a:r>
              <a:rPr lang="en-US" sz="2000" b="1"/>
              <a:t>Ensured data </a:t>
            </a:r>
            <a:r>
              <a:rPr lang="en-US" sz="2000"/>
              <a:t>is </a:t>
            </a:r>
            <a:r>
              <a:rPr lang="en-US" sz="2000" b="1"/>
              <a:t>logically connected </a:t>
            </a:r>
            <a:r>
              <a:rPr lang="en-US" sz="2000"/>
              <a:t>and realistic for CRUD and advanced MongoDB operations.</a:t>
            </a:r>
            <a:endParaRPr lang="en-MY" sz="2000"/>
          </a:p>
        </p:txBody>
      </p:sp>
    </p:spTree>
    <p:extLst>
      <p:ext uri="{BB962C8B-B14F-4D97-AF65-F5344CB8AC3E}">
        <p14:creationId xmlns:p14="http://schemas.microsoft.com/office/powerpoint/2010/main" val="3844612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AF442-5A3E-804E-1C3F-BB17DBC5E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759B3AC4-3D50-D070-8299-EF976857A0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2" t="12782" r="177" b="-752"/>
          <a:stretch>
            <a:fillRect/>
          </a:stretch>
        </p:blipFill>
        <p:spPr>
          <a:xfrm>
            <a:off x="-128" y="5655671"/>
            <a:ext cx="5427603" cy="1210674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50DC487-9428-A10A-5E7C-80514A4266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2" t="12782" r="177" b="-752"/>
          <a:stretch>
            <a:fillRect/>
          </a:stretch>
        </p:blipFill>
        <p:spPr>
          <a:xfrm>
            <a:off x="11884953" y="4851337"/>
            <a:ext cx="305270" cy="1612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0C9983-99B1-2519-07D0-3CAB25C830A9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Contribution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CAF6656-1D26-DB87-0FF3-4893E80618E0}"/>
              </a:ext>
            </a:extLst>
          </p:cNvPr>
          <p:cNvCxnSpPr/>
          <p:nvPr/>
        </p:nvCxnSpPr>
        <p:spPr>
          <a:xfrm flipV="1">
            <a:off x="312962" y="1205592"/>
            <a:ext cx="11579679" cy="1905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5CC2071-AF0C-6CC5-4594-5869F522AB7B}"/>
              </a:ext>
            </a:extLst>
          </p:cNvPr>
          <p:cNvSpPr txBox="1"/>
          <p:nvPr/>
        </p:nvSpPr>
        <p:spPr>
          <a:xfrm>
            <a:off x="1187003" y="5191358"/>
            <a:ext cx="247431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chemeClr val="accent1"/>
                </a:solidFill>
                <a:latin typeface="Aptos"/>
              </a:rPr>
              <a:t>LEE YIN SHEN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F23EED-EB5A-116B-F8D5-211FAE917523}"/>
              </a:ext>
            </a:extLst>
          </p:cNvPr>
          <p:cNvSpPr txBox="1"/>
          <p:nvPr/>
        </p:nvSpPr>
        <p:spPr>
          <a:xfrm>
            <a:off x="4520753" y="2396532"/>
            <a:ext cx="69912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MY">
              <a:latin typeface="Calibri"/>
              <a:ea typeface="+mn-lt"/>
              <a:cs typeface="+mn-lt"/>
            </a:endParaRPr>
          </a:p>
        </p:txBody>
      </p:sp>
      <p:pic>
        <p:nvPicPr>
          <p:cNvPr id="6" name="Picture 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BB322B2-84F4-679B-60F0-F287FCA645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2" t="12782" r="177" b="-752"/>
          <a:stretch>
            <a:fillRect/>
          </a:stretch>
        </p:blipFill>
        <p:spPr>
          <a:xfrm>
            <a:off x="-129" y="6187113"/>
            <a:ext cx="5438041" cy="6783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2301D4-BB7F-A19C-5ECA-C53715D7B87C}"/>
              </a:ext>
            </a:extLst>
          </p:cNvPr>
          <p:cNvSpPr txBox="1"/>
          <p:nvPr/>
        </p:nvSpPr>
        <p:spPr>
          <a:xfrm>
            <a:off x="4520753" y="1930162"/>
            <a:ext cx="6786547" cy="34778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/>
              <a:t>As a </a:t>
            </a:r>
            <a:r>
              <a:rPr lang="en-US" sz="2000" b="1"/>
              <a:t>CRUD Specialist</a:t>
            </a:r>
          </a:p>
          <a:p>
            <a:endParaRPr lang="en-US" sz="2000"/>
          </a:p>
          <a:p>
            <a:r>
              <a:rPr lang="en-US" sz="2000"/>
              <a:t>R</a:t>
            </a:r>
            <a:r>
              <a:rPr lang="en-US" sz="2000">
                <a:ea typeface="+mn-lt"/>
                <a:cs typeface="+mn-lt"/>
              </a:rPr>
              <a:t>esponsible to </a:t>
            </a:r>
            <a:r>
              <a:rPr lang="en-US" sz="2000" b="1">
                <a:ea typeface="+mn-lt"/>
                <a:cs typeface="+mn-lt"/>
              </a:rPr>
              <a:t>handle CRUD operations</a:t>
            </a:r>
            <a:r>
              <a:rPr lang="en-US" sz="2000">
                <a:ea typeface="+mn-lt"/>
                <a:cs typeface="+mn-lt"/>
              </a:rPr>
              <a:t> (Create, Read, Update, Delete) for the Event Booking System.</a:t>
            </a:r>
          </a:p>
          <a:p>
            <a:endParaRPr lang="en-US" sz="2000"/>
          </a:p>
          <a:p>
            <a:r>
              <a:rPr lang="en-US" sz="2000"/>
              <a:t>Implemented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b="1">
                <a:ea typeface="+mn-lt"/>
                <a:cs typeface="+mn-lt"/>
              </a:rPr>
              <a:t>data insertion</a:t>
            </a:r>
            <a:r>
              <a:rPr lang="en-US" sz="2000">
                <a:ea typeface="+mn-lt"/>
                <a:cs typeface="+mn-lt"/>
              </a:rPr>
              <a:t> to populate the system and developed </a:t>
            </a:r>
            <a:r>
              <a:rPr lang="en-US" sz="2000" b="1">
                <a:ea typeface="+mn-lt"/>
                <a:cs typeface="+mn-lt"/>
              </a:rPr>
              <a:t>search queries</a:t>
            </a:r>
            <a:r>
              <a:rPr lang="en-US" sz="2000">
                <a:ea typeface="+mn-lt"/>
                <a:cs typeface="+mn-lt"/>
              </a:rPr>
              <a:t> to retrieve specific event details.</a:t>
            </a:r>
          </a:p>
          <a:p>
            <a:endParaRPr lang="en-US" sz="2000"/>
          </a:p>
          <a:p>
            <a:r>
              <a:rPr lang="en-US" sz="2000"/>
              <a:t>Managed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b="1">
                <a:ea typeface="+mn-lt"/>
                <a:cs typeface="+mn-lt"/>
              </a:rPr>
              <a:t>data updates</a:t>
            </a:r>
            <a:r>
              <a:rPr lang="en-US" sz="2000">
                <a:ea typeface="+mn-lt"/>
                <a:cs typeface="+mn-lt"/>
              </a:rPr>
              <a:t> for database modication, and executing </a:t>
            </a:r>
            <a:r>
              <a:rPr lang="en-US" sz="2000" b="1">
                <a:ea typeface="+mn-lt"/>
                <a:cs typeface="+mn-lt"/>
              </a:rPr>
              <a:t>delete commands</a:t>
            </a:r>
            <a:r>
              <a:rPr lang="en-US" sz="2000">
                <a:ea typeface="+mn-lt"/>
                <a:cs typeface="+mn-lt"/>
              </a:rPr>
              <a:t> to remove specific data and ensure database accuracy.</a:t>
            </a:r>
            <a:endParaRPr lang="en-MY" sz="2000">
              <a:ea typeface="+mn-lt"/>
              <a:cs typeface="+mn-lt"/>
            </a:endParaRPr>
          </a:p>
        </p:txBody>
      </p:sp>
      <p:pic>
        <p:nvPicPr>
          <p:cNvPr id="7" name="Picture 6" descr="A person in a suit&#10;&#10;AI-generated content may be incorrect.">
            <a:extLst>
              <a:ext uri="{FF2B5EF4-FFF2-40B4-BE49-F238E27FC236}">
                <a16:creationId xmlns:a16="http://schemas.microsoft.com/office/drawing/2014/main" id="{E3CA31F4-3FAA-D0F3-A695-A2C7785BC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180" y="2054504"/>
            <a:ext cx="2167361" cy="30480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4238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F529B-F749-9238-1A2E-14334E7C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8D4BD1C7-0545-2626-DABE-66DF51FBFD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2" t="12782" r="177" b="-752"/>
          <a:stretch>
            <a:fillRect/>
          </a:stretch>
        </p:blipFill>
        <p:spPr>
          <a:xfrm>
            <a:off x="-128" y="5655671"/>
            <a:ext cx="5427603" cy="1210674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FEDFE85-5C18-1B2D-D541-1FBE89FF26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2" t="12782" r="177" b="-752"/>
          <a:stretch>
            <a:fillRect/>
          </a:stretch>
        </p:blipFill>
        <p:spPr>
          <a:xfrm>
            <a:off x="11884953" y="4851337"/>
            <a:ext cx="305270" cy="1612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D57820-C2B4-A259-DFDF-49A8B435412F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Contribution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13E5574-E503-7AD8-7CEA-2AEB7929F288}"/>
              </a:ext>
            </a:extLst>
          </p:cNvPr>
          <p:cNvCxnSpPr/>
          <p:nvPr/>
        </p:nvCxnSpPr>
        <p:spPr>
          <a:xfrm flipV="1">
            <a:off x="312962" y="1205592"/>
            <a:ext cx="11579679" cy="1905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B09AD06-52DD-8440-E0E0-3A0A55305C4D}"/>
              </a:ext>
            </a:extLst>
          </p:cNvPr>
          <p:cNvSpPr txBox="1"/>
          <p:nvPr/>
        </p:nvSpPr>
        <p:spPr>
          <a:xfrm>
            <a:off x="782485" y="5313654"/>
            <a:ext cx="327394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chemeClr val="accent1"/>
                </a:solidFill>
                <a:latin typeface="Aptos"/>
              </a:rPr>
              <a:t>CHERYL CHEONG KAH VOON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D22AC-5536-4C96-FBCE-9CFAF6CBE88D}"/>
              </a:ext>
            </a:extLst>
          </p:cNvPr>
          <p:cNvSpPr txBox="1"/>
          <p:nvPr/>
        </p:nvSpPr>
        <p:spPr>
          <a:xfrm>
            <a:off x="4520753" y="2396532"/>
            <a:ext cx="69912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MY">
              <a:latin typeface="Calibri"/>
              <a:ea typeface="+mn-lt"/>
              <a:cs typeface="+mn-lt"/>
            </a:endParaRPr>
          </a:p>
        </p:txBody>
      </p:sp>
      <p:pic>
        <p:nvPicPr>
          <p:cNvPr id="6" name="Picture 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5003896-89B5-7629-4925-45EBB05BAB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2" t="12782" r="177" b="-752"/>
          <a:stretch>
            <a:fillRect/>
          </a:stretch>
        </p:blipFill>
        <p:spPr>
          <a:xfrm>
            <a:off x="-129" y="6187113"/>
            <a:ext cx="5438041" cy="6783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895F9E-D427-F5F3-AC94-DE3244D972C8}"/>
              </a:ext>
            </a:extLst>
          </p:cNvPr>
          <p:cNvSpPr txBox="1"/>
          <p:nvPr/>
        </p:nvSpPr>
        <p:spPr>
          <a:xfrm>
            <a:off x="4520753" y="1930162"/>
            <a:ext cx="6890028" cy="34778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/>
              <a:t>As a </a:t>
            </a:r>
            <a:r>
              <a:rPr lang="en-US" sz="2000" b="1"/>
              <a:t>Data Analyst</a:t>
            </a:r>
            <a:endParaRPr lang="ja-JP" altLang="en-US" sz="2000" b="1">
              <a:ea typeface="游ゴシック"/>
              <a:cs typeface="Calibri"/>
            </a:endParaRPr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Responsible for </a:t>
            </a:r>
            <a:r>
              <a:rPr lang="en-US" sz="2000" b="1">
                <a:ea typeface="+mn-lt"/>
                <a:cs typeface="+mn-lt"/>
              </a:rPr>
              <a:t>optimizing data access</a:t>
            </a:r>
            <a:r>
              <a:rPr lang="en-US" sz="2000">
                <a:ea typeface="+mn-lt"/>
                <a:cs typeface="+mn-lt"/>
              </a:rPr>
              <a:t> and </a:t>
            </a:r>
            <a:r>
              <a:rPr lang="en-US" sz="2000" b="1">
                <a:ea typeface="+mn-lt"/>
                <a:cs typeface="+mn-lt"/>
              </a:rPr>
              <a:t>supporting analytical queries</a:t>
            </a:r>
            <a:r>
              <a:rPr lang="en-US" sz="2000">
                <a:ea typeface="+mn-lt"/>
                <a:cs typeface="+mn-lt"/>
              </a:rPr>
              <a:t> within the Event Booking System.</a:t>
            </a:r>
            <a:endParaRPr lang="en-US">
              <a:ea typeface="+mn-lt"/>
              <a:cs typeface="+mn-lt"/>
            </a:endParaRPr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Implemented </a:t>
            </a:r>
            <a:r>
              <a:rPr lang="en-US" sz="2000" b="1">
                <a:ea typeface="+mn-lt"/>
                <a:cs typeface="+mn-lt"/>
              </a:rPr>
              <a:t>indexing</a:t>
            </a:r>
            <a:r>
              <a:rPr lang="en-US" sz="2000">
                <a:ea typeface="+mn-lt"/>
                <a:cs typeface="+mn-lt"/>
              </a:rPr>
              <a:t> on key fields to enhance query efficiency and ensure performance-oriented data analysis.</a:t>
            </a:r>
            <a:endParaRPr lang="en-US">
              <a:ea typeface="+mn-lt"/>
              <a:cs typeface="+mn-lt"/>
            </a:endParaRPr>
          </a:p>
          <a:p>
            <a:endParaRPr lang="en-US" sz="2000"/>
          </a:p>
          <a:p>
            <a:r>
              <a:rPr lang="en-US" sz="2000">
                <a:ea typeface="+mn-lt"/>
                <a:cs typeface="+mn-lt"/>
              </a:rPr>
              <a:t>Developed </a:t>
            </a:r>
            <a:r>
              <a:rPr lang="en-US" sz="2000" b="1">
                <a:ea typeface="+mn-lt"/>
                <a:cs typeface="+mn-lt"/>
              </a:rPr>
              <a:t>aggregation pipelines</a:t>
            </a:r>
            <a:r>
              <a:rPr lang="en-US" sz="2000">
                <a:ea typeface="+mn-lt"/>
                <a:cs typeface="+mn-lt"/>
              </a:rPr>
              <a:t> to generate meaningful summaries and analyze patterns such as event pricing and booking distribution.</a:t>
            </a:r>
            <a:endParaRPr lang="en-MY">
              <a:ea typeface="+mn-lt"/>
              <a:cs typeface="+mn-lt"/>
            </a:endParaRPr>
          </a:p>
        </p:txBody>
      </p:sp>
      <p:pic>
        <p:nvPicPr>
          <p:cNvPr id="2" name="Picture 1" descr="A person wearing glasses and a suit&#10;&#10;AI-generated content may be incorrect.">
            <a:extLst>
              <a:ext uri="{FF2B5EF4-FFF2-40B4-BE49-F238E27FC236}">
                <a16:creationId xmlns:a16="http://schemas.microsoft.com/office/drawing/2014/main" id="{BF168908-6401-F68B-03E8-0184FC6A3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248" y="2222500"/>
            <a:ext cx="2856913" cy="28833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42013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93E12-F7C4-90C6-D4B0-2A5AEA16E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8BBE8B44-63FA-F99D-3842-DD1A157B6B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2" t="12782" r="177" b="-752"/>
          <a:stretch>
            <a:fillRect/>
          </a:stretch>
        </p:blipFill>
        <p:spPr>
          <a:xfrm>
            <a:off x="-128" y="5655671"/>
            <a:ext cx="5427603" cy="1210674"/>
          </a:xfrm>
          <a:prstGeom prst="rect">
            <a:avLst/>
          </a:prstGeom>
        </p:spPr>
      </p:pic>
      <p:pic>
        <p:nvPicPr>
          <p:cNvPr id="14" name="Picture 13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3C01414-33F3-5C06-2111-A9F1884684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2" t="12782" r="177" b="-752"/>
          <a:stretch>
            <a:fillRect/>
          </a:stretch>
        </p:blipFill>
        <p:spPr>
          <a:xfrm>
            <a:off x="11884953" y="4851337"/>
            <a:ext cx="305270" cy="1612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CA2D5D-756C-B6CD-83D6-A3634673470A}"/>
              </a:ext>
            </a:extLst>
          </p:cNvPr>
          <p:cNvSpPr txBox="1"/>
          <p:nvPr/>
        </p:nvSpPr>
        <p:spPr>
          <a:xfrm>
            <a:off x="501204" y="500072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accent1"/>
                </a:solidFill>
                <a:latin typeface="Aptos"/>
              </a:rPr>
              <a:t>Contribution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B337822-22C6-3820-8B3D-D72B6724E567}"/>
              </a:ext>
            </a:extLst>
          </p:cNvPr>
          <p:cNvCxnSpPr/>
          <p:nvPr/>
        </p:nvCxnSpPr>
        <p:spPr>
          <a:xfrm flipV="1">
            <a:off x="312962" y="1205592"/>
            <a:ext cx="11579679" cy="1905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9EB263F-C670-DC99-23A5-177E410FC268}"/>
              </a:ext>
            </a:extLst>
          </p:cNvPr>
          <p:cNvSpPr txBox="1"/>
          <p:nvPr/>
        </p:nvSpPr>
        <p:spPr>
          <a:xfrm>
            <a:off x="782485" y="5313654"/>
            <a:ext cx="32739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chemeClr val="accent1"/>
                </a:solidFill>
                <a:latin typeface="Aptos"/>
              </a:rPr>
              <a:t>LAU YEE WEN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312468-46CF-1C46-02BF-B00341B0AF73}"/>
              </a:ext>
            </a:extLst>
          </p:cNvPr>
          <p:cNvSpPr txBox="1"/>
          <p:nvPr/>
        </p:nvSpPr>
        <p:spPr>
          <a:xfrm>
            <a:off x="4520753" y="2396532"/>
            <a:ext cx="69912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MY">
              <a:latin typeface="Calibri"/>
              <a:ea typeface="+mn-lt"/>
              <a:cs typeface="+mn-lt"/>
            </a:endParaRPr>
          </a:p>
        </p:txBody>
      </p:sp>
      <p:pic>
        <p:nvPicPr>
          <p:cNvPr id="6" name="Picture 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C97B0261-DCE2-F3E5-AEE4-0DECFB930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2" t="12782" r="177" b="-752"/>
          <a:stretch>
            <a:fillRect/>
          </a:stretch>
        </p:blipFill>
        <p:spPr>
          <a:xfrm>
            <a:off x="-129" y="6187113"/>
            <a:ext cx="5438041" cy="6783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2CF2C1-A1E7-51F2-1975-F4FA1D401BAE}"/>
              </a:ext>
            </a:extLst>
          </p:cNvPr>
          <p:cNvSpPr txBox="1"/>
          <p:nvPr/>
        </p:nvSpPr>
        <p:spPr>
          <a:xfrm>
            <a:off x="4520753" y="1930162"/>
            <a:ext cx="6786547" cy="49552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/>
              <a:t>As a </a:t>
            </a:r>
            <a:r>
              <a:rPr lang="en-US" sz="2000" b="1"/>
              <a:t>Database Administrator</a:t>
            </a:r>
            <a:endParaRPr lang="ja-JP" altLang="en-US" sz="2000" b="1">
              <a:ea typeface="游ゴシック"/>
              <a:cs typeface="Calibri"/>
            </a:endParaRPr>
          </a:p>
          <a:p>
            <a:endParaRPr lang="en-US" sz="2000" b="1">
              <a:ea typeface="Calibri"/>
              <a:cs typeface="Calibri"/>
            </a:endParaRPr>
          </a:p>
          <a:p>
            <a:r>
              <a:rPr lang="en-US" sz="2000">
                <a:latin typeface="Calibri"/>
                <a:ea typeface="+mn-lt"/>
                <a:cs typeface="Times New Roman"/>
              </a:rPr>
              <a:t>Implemented the </a:t>
            </a:r>
            <a:r>
              <a:rPr lang="en-US" sz="2000" b="1">
                <a:latin typeface="Calibri"/>
                <a:ea typeface="+mn-lt"/>
                <a:cs typeface="Times New Roman"/>
              </a:rPr>
              <a:t>sorting functions</a:t>
            </a:r>
            <a:r>
              <a:rPr lang="en-US" sz="2000">
                <a:latin typeface="Calibri"/>
                <a:ea typeface="+mn-lt"/>
                <a:cs typeface="Times New Roman"/>
              </a:rPr>
              <a:t> to organize events and bookings, such as listing items by price or payment amount</a:t>
            </a:r>
            <a:endParaRPr lang="en-US" sz="2000">
              <a:latin typeface="Calibri"/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+mn-lt"/>
                <a:cs typeface="+mn-lt"/>
              </a:rPr>
              <a:t>Analyzed and documented how indexing strategies </a:t>
            </a:r>
            <a:r>
              <a:rPr lang="en-US" sz="2000" b="1">
                <a:ea typeface="+mn-lt"/>
                <a:cs typeface="+mn-lt"/>
              </a:rPr>
              <a:t>optimized query speeds</a:t>
            </a:r>
            <a:r>
              <a:rPr lang="en-US" sz="2000">
                <a:ea typeface="+mn-lt"/>
                <a:cs typeface="+mn-lt"/>
              </a:rPr>
              <a:t> compared to standard collection scans.</a:t>
            </a:r>
            <a:endParaRPr lang="en-US" sz="2000">
              <a:ea typeface="Calibri"/>
              <a:cs typeface="Calibri"/>
            </a:endParaRPr>
          </a:p>
          <a:p>
            <a:endParaRPr lang="en-US" sz="2000">
              <a:latin typeface="Calibri"/>
              <a:ea typeface="Calibri"/>
              <a:cs typeface="Times New Roman"/>
            </a:endParaRPr>
          </a:p>
          <a:p>
            <a:r>
              <a:rPr lang="en-US" sz="2000">
                <a:solidFill>
                  <a:srgbClr val="000000"/>
                </a:solidFill>
                <a:latin typeface="Calibri"/>
                <a:ea typeface="+mn-lt"/>
                <a:cs typeface="Times New Roman"/>
              </a:rPr>
              <a:t>Documented the </a:t>
            </a:r>
            <a:r>
              <a:rPr lang="en-US" sz="2000" b="1">
                <a:solidFill>
                  <a:srgbClr val="000000"/>
                </a:solidFill>
                <a:latin typeface="Calibri"/>
                <a:ea typeface="+mn-lt"/>
                <a:cs typeface="Times New Roman"/>
              </a:rPr>
              <a:t>technical challenges</a:t>
            </a:r>
            <a:r>
              <a:rPr lang="en-US" sz="2000">
                <a:solidFill>
                  <a:srgbClr val="000000"/>
                </a:solidFill>
                <a:latin typeface="Calibri"/>
                <a:ea typeface="+mn-lt"/>
                <a:cs typeface="Times New Roman"/>
              </a:rPr>
              <a:t> we faced, like script errors and software limitations</a:t>
            </a:r>
            <a:endParaRPr lang="en-US" sz="2000">
              <a:latin typeface="Calibri"/>
              <a:ea typeface="Calibri"/>
              <a:cs typeface="Calibri"/>
            </a:endParaRPr>
          </a:p>
          <a:p>
            <a:endParaRPr lang="en-US" sz="20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Identified </a:t>
            </a:r>
            <a:r>
              <a:rPr lang="en-US" sz="2000" b="1">
                <a:ea typeface="+mn-lt"/>
                <a:cs typeface="+mn-lt"/>
              </a:rPr>
              <a:t>NoSQL injection risks</a:t>
            </a:r>
            <a:r>
              <a:rPr lang="en-US" sz="2000">
                <a:ea typeface="+mn-lt"/>
                <a:cs typeface="+mn-lt"/>
              </a:rPr>
              <a:t>, defined access controls, and outlined </a:t>
            </a:r>
            <a:r>
              <a:rPr lang="en-US" sz="2000" b="1">
                <a:ea typeface="+mn-lt"/>
                <a:cs typeface="+mn-lt"/>
              </a:rPr>
              <a:t>data consistency constraints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pPr algn="ctr"/>
            <a:br>
              <a:rPr lang="en-US"/>
            </a:br>
            <a:endParaRPr lang="en-US"/>
          </a:p>
          <a:p>
            <a:endParaRPr lang="en-US" sz="2000">
              <a:ea typeface="+mn-lt"/>
              <a:cs typeface="+mn-lt"/>
            </a:endParaRPr>
          </a:p>
        </p:txBody>
      </p:sp>
      <p:pic>
        <p:nvPicPr>
          <p:cNvPr id="2" name="Picture 1" descr="A person wearing glasses and smiling&#10;&#10;AI-generated content may be incorrect.">
            <a:extLst>
              <a:ext uri="{FF2B5EF4-FFF2-40B4-BE49-F238E27FC236}">
                <a16:creationId xmlns:a16="http://schemas.microsoft.com/office/drawing/2014/main" id="{2E0492FE-E5A7-3120-5D52-FC3046D2FC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69" t="-244" r="-5859" b="-71"/>
          <a:stretch>
            <a:fillRect/>
          </a:stretch>
        </p:blipFill>
        <p:spPr>
          <a:xfrm>
            <a:off x="1255346" y="2222500"/>
            <a:ext cx="2324717" cy="288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809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4820F6-6C26-1EBF-5C42-FA03DE41E161}"/>
              </a:ext>
            </a:extLst>
          </p:cNvPr>
          <p:cNvSpPr txBox="1"/>
          <p:nvPr/>
        </p:nvSpPr>
        <p:spPr bwMode="auto">
          <a:xfrm>
            <a:off x="3647115" y="2649752"/>
            <a:ext cx="4706938" cy="1015663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0" b="1">
                <a:solidFill>
                  <a:schemeClr val="bg1"/>
                </a:solidFill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C1C89C-415D-8541-332A-2F542D81F044}"/>
              </a:ext>
            </a:extLst>
          </p:cNvPr>
          <p:cNvSpPr txBox="1"/>
          <p:nvPr/>
        </p:nvSpPr>
        <p:spPr>
          <a:xfrm>
            <a:off x="4434467" y="4076956"/>
            <a:ext cx="1661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200">
                <a:solidFill>
                  <a:schemeClr val="bg1"/>
                </a:solidFill>
              </a:rPr>
              <a:t>univteknologimalaysia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136870D-2DAD-C7DB-DE9D-5E9D14D472AB}"/>
              </a:ext>
            </a:extLst>
          </p:cNvPr>
          <p:cNvGrpSpPr/>
          <p:nvPr/>
        </p:nvGrpSpPr>
        <p:grpSpPr>
          <a:xfrm>
            <a:off x="3366240" y="4067101"/>
            <a:ext cx="280228" cy="281958"/>
            <a:chOff x="2163763" y="-1266825"/>
            <a:chExt cx="1028700" cy="1035050"/>
          </a:xfrm>
          <a:solidFill>
            <a:schemeClr val="bg1">
              <a:lumMod val="95000"/>
            </a:schemeClr>
          </a:solidFill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9CA6BC94-EC3A-003F-BBFA-332A294D5F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3763" y="-1266825"/>
              <a:ext cx="1028700" cy="1035050"/>
            </a:xfrm>
            <a:custGeom>
              <a:avLst/>
              <a:gdLst>
                <a:gd name="T0" fmla="*/ 198 w 396"/>
                <a:gd name="T1" fmla="*/ 0 h 396"/>
                <a:gd name="T2" fmla="*/ 338 w 396"/>
                <a:gd name="T3" fmla="*/ 58 h 396"/>
                <a:gd name="T4" fmla="*/ 396 w 396"/>
                <a:gd name="T5" fmla="*/ 198 h 396"/>
                <a:gd name="T6" fmla="*/ 338 w 396"/>
                <a:gd name="T7" fmla="*/ 338 h 396"/>
                <a:gd name="T8" fmla="*/ 198 w 396"/>
                <a:gd name="T9" fmla="*/ 396 h 396"/>
                <a:gd name="T10" fmla="*/ 58 w 396"/>
                <a:gd name="T11" fmla="*/ 338 h 396"/>
                <a:gd name="T12" fmla="*/ 0 w 396"/>
                <a:gd name="T13" fmla="*/ 198 h 396"/>
                <a:gd name="T14" fmla="*/ 58 w 396"/>
                <a:gd name="T15" fmla="*/ 58 h 396"/>
                <a:gd name="T16" fmla="*/ 198 w 396"/>
                <a:gd name="T17" fmla="*/ 0 h 396"/>
                <a:gd name="T18" fmla="*/ 327 w 396"/>
                <a:gd name="T19" fmla="*/ 69 h 396"/>
                <a:gd name="T20" fmla="*/ 198 w 396"/>
                <a:gd name="T21" fmla="*/ 15 h 396"/>
                <a:gd name="T22" fmla="*/ 69 w 396"/>
                <a:gd name="T23" fmla="*/ 69 h 396"/>
                <a:gd name="T24" fmla="*/ 15 w 396"/>
                <a:gd name="T25" fmla="*/ 198 h 396"/>
                <a:gd name="T26" fmla="*/ 69 w 396"/>
                <a:gd name="T27" fmla="*/ 327 h 396"/>
                <a:gd name="T28" fmla="*/ 198 w 396"/>
                <a:gd name="T29" fmla="*/ 380 h 396"/>
                <a:gd name="T30" fmla="*/ 327 w 396"/>
                <a:gd name="T31" fmla="*/ 327 h 396"/>
                <a:gd name="T32" fmla="*/ 380 w 396"/>
                <a:gd name="T33" fmla="*/ 198 h 396"/>
                <a:gd name="T34" fmla="*/ 327 w 396"/>
                <a:gd name="T35" fmla="*/ 69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396">
                  <a:moveTo>
                    <a:pt x="198" y="0"/>
                  </a:moveTo>
                  <a:cubicBezTo>
                    <a:pt x="252" y="0"/>
                    <a:pt x="302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2" y="374"/>
                    <a:pt x="252" y="396"/>
                    <a:pt x="198" y="396"/>
                  </a:cubicBezTo>
                  <a:cubicBezTo>
                    <a:pt x="143" y="396"/>
                    <a:pt x="93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3" y="22"/>
                    <a:pt x="143" y="0"/>
                    <a:pt x="198" y="0"/>
                  </a:cubicBezTo>
                  <a:close/>
                  <a:moveTo>
                    <a:pt x="327" y="69"/>
                  </a:moveTo>
                  <a:cubicBezTo>
                    <a:pt x="294" y="36"/>
                    <a:pt x="248" y="15"/>
                    <a:pt x="198" y="15"/>
                  </a:cubicBezTo>
                  <a:cubicBezTo>
                    <a:pt x="147" y="15"/>
                    <a:pt x="102" y="36"/>
                    <a:pt x="69" y="69"/>
                  </a:cubicBezTo>
                  <a:cubicBezTo>
                    <a:pt x="36" y="102"/>
                    <a:pt x="15" y="147"/>
                    <a:pt x="15" y="198"/>
                  </a:cubicBezTo>
                  <a:cubicBezTo>
                    <a:pt x="15" y="248"/>
                    <a:pt x="36" y="294"/>
                    <a:pt x="69" y="327"/>
                  </a:cubicBezTo>
                  <a:cubicBezTo>
                    <a:pt x="102" y="360"/>
                    <a:pt x="147" y="380"/>
                    <a:pt x="198" y="380"/>
                  </a:cubicBezTo>
                  <a:cubicBezTo>
                    <a:pt x="248" y="380"/>
                    <a:pt x="294" y="360"/>
                    <a:pt x="327" y="327"/>
                  </a:cubicBezTo>
                  <a:cubicBezTo>
                    <a:pt x="360" y="294"/>
                    <a:pt x="380" y="248"/>
                    <a:pt x="380" y="198"/>
                  </a:cubicBezTo>
                  <a:cubicBezTo>
                    <a:pt x="380" y="147"/>
                    <a:pt x="360" y="102"/>
                    <a:pt x="327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ED93D63C-4E6A-702C-8FFD-729BB391A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288" y="-1014413"/>
              <a:ext cx="246063" cy="528638"/>
            </a:xfrm>
            <a:custGeom>
              <a:avLst/>
              <a:gdLst>
                <a:gd name="T0" fmla="*/ 63 w 95"/>
                <a:gd name="T1" fmla="*/ 60 h 202"/>
                <a:gd name="T2" fmla="*/ 63 w 95"/>
                <a:gd name="T3" fmla="*/ 44 h 202"/>
                <a:gd name="T4" fmla="*/ 72 w 95"/>
                <a:gd name="T5" fmla="*/ 34 h 202"/>
                <a:gd name="T6" fmla="*/ 94 w 95"/>
                <a:gd name="T7" fmla="*/ 34 h 202"/>
                <a:gd name="T8" fmla="*/ 94 w 95"/>
                <a:gd name="T9" fmla="*/ 0 h 202"/>
                <a:gd name="T10" fmla="*/ 63 w 95"/>
                <a:gd name="T11" fmla="*/ 0 h 202"/>
                <a:gd name="T12" fmla="*/ 21 w 95"/>
                <a:gd name="T13" fmla="*/ 42 h 202"/>
                <a:gd name="T14" fmla="*/ 21 w 95"/>
                <a:gd name="T15" fmla="*/ 60 h 202"/>
                <a:gd name="T16" fmla="*/ 0 w 95"/>
                <a:gd name="T17" fmla="*/ 60 h 202"/>
                <a:gd name="T18" fmla="*/ 0 w 95"/>
                <a:gd name="T19" fmla="*/ 85 h 202"/>
                <a:gd name="T20" fmla="*/ 0 w 95"/>
                <a:gd name="T21" fmla="*/ 101 h 202"/>
                <a:gd name="T22" fmla="*/ 21 w 95"/>
                <a:gd name="T23" fmla="*/ 101 h 202"/>
                <a:gd name="T24" fmla="*/ 21 w 95"/>
                <a:gd name="T25" fmla="*/ 202 h 202"/>
                <a:gd name="T26" fmla="*/ 61 w 95"/>
                <a:gd name="T27" fmla="*/ 202 h 202"/>
                <a:gd name="T28" fmla="*/ 61 w 95"/>
                <a:gd name="T29" fmla="*/ 101 h 202"/>
                <a:gd name="T30" fmla="*/ 91 w 95"/>
                <a:gd name="T31" fmla="*/ 101 h 202"/>
                <a:gd name="T32" fmla="*/ 92 w 95"/>
                <a:gd name="T33" fmla="*/ 85 h 202"/>
                <a:gd name="T34" fmla="*/ 95 w 95"/>
                <a:gd name="T35" fmla="*/ 60 h 202"/>
                <a:gd name="T36" fmla="*/ 63 w 95"/>
                <a:gd name="T37" fmla="*/ 6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5" h="202">
                  <a:moveTo>
                    <a:pt x="63" y="60"/>
                  </a:moveTo>
                  <a:cubicBezTo>
                    <a:pt x="63" y="44"/>
                    <a:pt x="63" y="44"/>
                    <a:pt x="63" y="44"/>
                  </a:cubicBezTo>
                  <a:cubicBezTo>
                    <a:pt x="63" y="36"/>
                    <a:pt x="68" y="34"/>
                    <a:pt x="72" y="34"/>
                  </a:cubicBezTo>
                  <a:cubicBezTo>
                    <a:pt x="75" y="34"/>
                    <a:pt x="94" y="34"/>
                    <a:pt x="94" y="34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21" y="25"/>
                    <a:pt x="21" y="42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21" y="101"/>
                    <a:pt x="21" y="101"/>
                    <a:pt x="21" y="101"/>
                  </a:cubicBezTo>
                  <a:cubicBezTo>
                    <a:pt x="21" y="147"/>
                    <a:pt x="21" y="202"/>
                    <a:pt x="21" y="202"/>
                  </a:cubicBezTo>
                  <a:cubicBezTo>
                    <a:pt x="61" y="202"/>
                    <a:pt x="61" y="202"/>
                    <a:pt x="61" y="202"/>
                  </a:cubicBezTo>
                  <a:cubicBezTo>
                    <a:pt x="61" y="202"/>
                    <a:pt x="61" y="146"/>
                    <a:pt x="61" y="101"/>
                  </a:cubicBezTo>
                  <a:cubicBezTo>
                    <a:pt x="91" y="101"/>
                    <a:pt x="91" y="101"/>
                    <a:pt x="91" y="101"/>
                  </a:cubicBezTo>
                  <a:cubicBezTo>
                    <a:pt x="92" y="85"/>
                    <a:pt x="92" y="85"/>
                    <a:pt x="92" y="85"/>
                  </a:cubicBezTo>
                  <a:cubicBezTo>
                    <a:pt x="95" y="60"/>
                    <a:pt x="95" y="60"/>
                    <a:pt x="95" y="60"/>
                  </a:cubicBezTo>
                  <a:lnTo>
                    <a:pt x="63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09B19F7-B624-3ABA-C567-5166FD20AAE7}"/>
              </a:ext>
            </a:extLst>
          </p:cNvPr>
          <p:cNvGrpSpPr/>
          <p:nvPr/>
        </p:nvGrpSpPr>
        <p:grpSpPr>
          <a:xfrm>
            <a:off x="7531144" y="4077067"/>
            <a:ext cx="279796" cy="281958"/>
            <a:chOff x="3470276" y="-1266825"/>
            <a:chExt cx="1027113" cy="1035050"/>
          </a:xfrm>
          <a:solidFill>
            <a:schemeClr val="bg1">
              <a:lumMod val="95000"/>
            </a:schemeClr>
          </a:solidFill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1D2869D3-FA80-AF09-B200-6780D06BD5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70276" y="-1266825"/>
              <a:ext cx="1027113" cy="1035050"/>
            </a:xfrm>
            <a:custGeom>
              <a:avLst/>
              <a:gdLst>
                <a:gd name="T0" fmla="*/ 198 w 396"/>
                <a:gd name="T1" fmla="*/ 0 h 396"/>
                <a:gd name="T2" fmla="*/ 338 w 396"/>
                <a:gd name="T3" fmla="*/ 58 h 396"/>
                <a:gd name="T4" fmla="*/ 396 w 396"/>
                <a:gd name="T5" fmla="*/ 198 h 396"/>
                <a:gd name="T6" fmla="*/ 338 w 396"/>
                <a:gd name="T7" fmla="*/ 338 h 396"/>
                <a:gd name="T8" fmla="*/ 198 w 396"/>
                <a:gd name="T9" fmla="*/ 396 h 396"/>
                <a:gd name="T10" fmla="*/ 58 w 396"/>
                <a:gd name="T11" fmla="*/ 338 h 396"/>
                <a:gd name="T12" fmla="*/ 0 w 396"/>
                <a:gd name="T13" fmla="*/ 198 h 396"/>
                <a:gd name="T14" fmla="*/ 58 w 396"/>
                <a:gd name="T15" fmla="*/ 58 h 396"/>
                <a:gd name="T16" fmla="*/ 198 w 396"/>
                <a:gd name="T17" fmla="*/ 0 h 396"/>
                <a:gd name="T18" fmla="*/ 328 w 396"/>
                <a:gd name="T19" fmla="*/ 69 h 396"/>
                <a:gd name="T20" fmla="*/ 198 w 396"/>
                <a:gd name="T21" fmla="*/ 15 h 396"/>
                <a:gd name="T22" fmla="*/ 69 w 396"/>
                <a:gd name="T23" fmla="*/ 69 h 396"/>
                <a:gd name="T24" fmla="*/ 16 w 396"/>
                <a:gd name="T25" fmla="*/ 198 h 396"/>
                <a:gd name="T26" fmla="*/ 69 w 396"/>
                <a:gd name="T27" fmla="*/ 327 h 396"/>
                <a:gd name="T28" fmla="*/ 198 w 396"/>
                <a:gd name="T29" fmla="*/ 380 h 396"/>
                <a:gd name="T30" fmla="*/ 328 w 396"/>
                <a:gd name="T31" fmla="*/ 327 h 396"/>
                <a:gd name="T32" fmla="*/ 381 w 396"/>
                <a:gd name="T33" fmla="*/ 198 h 396"/>
                <a:gd name="T34" fmla="*/ 328 w 396"/>
                <a:gd name="T35" fmla="*/ 69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6" h="396">
                  <a:moveTo>
                    <a:pt x="198" y="0"/>
                  </a:moveTo>
                  <a:cubicBezTo>
                    <a:pt x="253" y="0"/>
                    <a:pt x="303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3" y="374"/>
                    <a:pt x="253" y="396"/>
                    <a:pt x="198" y="396"/>
                  </a:cubicBezTo>
                  <a:cubicBezTo>
                    <a:pt x="144" y="396"/>
                    <a:pt x="94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4" y="22"/>
                    <a:pt x="144" y="0"/>
                    <a:pt x="198" y="0"/>
                  </a:cubicBezTo>
                  <a:close/>
                  <a:moveTo>
                    <a:pt x="328" y="69"/>
                  </a:moveTo>
                  <a:cubicBezTo>
                    <a:pt x="294" y="36"/>
                    <a:pt x="249" y="15"/>
                    <a:pt x="198" y="15"/>
                  </a:cubicBezTo>
                  <a:cubicBezTo>
                    <a:pt x="148" y="15"/>
                    <a:pt x="102" y="36"/>
                    <a:pt x="69" y="69"/>
                  </a:cubicBezTo>
                  <a:cubicBezTo>
                    <a:pt x="36" y="102"/>
                    <a:pt x="16" y="147"/>
                    <a:pt x="16" y="198"/>
                  </a:cubicBezTo>
                  <a:cubicBezTo>
                    <a:pt x="16" y="248"/>
                    <a:pt x="36" y="294"/>
                    <a:pt x="69" y="327"/>
                  </a:cubicBezTo>
                  <a:cubicBezTo>
                    <a:pt x="102" y="360"/>
                    <a:pt x="148" y="380"/>
                    <a:pt x="198" y="380"/>
                  </a:cubicBezTo>
                  <a:cubicBezTo>
                    <a:pt x="249" y="380"/>
                    <a:pt x="294" y="360"/>
                    <a:pt x="328" y="327"/>
                  </a:cubicBezTo>
                  <a:cubicBezTo>
                    <a:pt x="361" y="294"/>
                    <a:pt x="381" y="248"/>
                    <a:pt x="381" y="198"/>
                  </a:cubicBezTo>
                  <a:cubicBezTo>
                    <a:pt x="381" y="147"/>
                    <a:pt x="361" y="102"/>
                    <a:pt x="328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D2E0A07B-CE26-AFAB-9272-1F467B6A0A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7451" y="-1011238"/>
              <a:ext cx="515938" cy="520700"/>
            </a:xfrm>
            <a:custGeom>
              <a:avLst/>
              <a:gdLst>
                <a:gd name="T0" fmla="*/ 49 w 199"/>
                <a:gd name="T1" fmla="*/ 100 h 199"/>
                <a:gd name="T2" fmla="*/ 99 w 199"/>
                <a:gd name="T3" fmla="*/ 49 h 199"/>
                <a:gd name="T4" fmla="*/ 150 w 199"/>
                <a:gd name="T5" fmla="*/ 100 h 199"/>
                <a:gd name="T6" fmla="*/ 99 w 199"/>
                <a:gd name="T7" fmla="*/ 150 h 199"/>
                <a:gd name="T8" fmla="*/ 49 w 199"/>
                <a:gd name="T9" fmla="*/ 100 h 199"/>
                <a:gd name="T10" fmla="*/ 152 w 199"/>
                <a:gd name="T11" fmla="*/ 0 h 199"/>
                <a:gd name="T12" fmla="*/ 47 w 199"/>
                <a:gd name="T13" fmla="*/ 0 h 199"/>
                <a:gd name="T14" fmla="*/ 0 w 199"/>
                <a:gd name="T15" fmla="*/ 47 h 199"/>
                <a:gd name="T16" fmla="*/ 0 w 199"/>
                <a:gd name="T17" fmla="*/ 152 h 199"/>
                <a:gd name="T18" fmla="*/ 47 w 199"/>
                <a:gd name="T19" fmla="*/ 199 h 199"/>
                <a:gd name="T20" fmla="*/ 152 w 199"/>
                <a:gd name="T21" fmla="*/ 199 h 199"/>
                <a:gd name="T22" fmla="*/ 199 w 199"/>
                <a:gd name="T23" fmla="*/ 152 h 199"/>
                <a:gd name="T24" fmla="*/ 199 w 199"/>
                <a:gd name="T25" fmla="*/ 47 h 199"/>
                <a:gd name="T26" fmla="*/ 152 w 199"/>
                <a:gd name="T27" fmla="*/ 0 h 199"/>
                <a:gd name="T28" fmla="*/ 47 w 199"/>
                <a:gd name="T29" fmla="*/ 12 h 199"/>
                <a:gd name="T30" fmla="*/ 152 w 199"/>
                <a:gd name="T31" fmla="*/ 12 h 199"/>
                <a:gd name="T32" fmla="*/ 187 w 199"/>
                <a:gd name="T33" fmla="*/ 47 h 199"/>
                <a:gd name="T34" fmla="*/ 187 w 199"/>
                <a:gd name="T35" fmla="*/ 152 h 199"/>
                <a:gd name="T36" fmla="*/ 152 w 199"/>
                <a:gd name="T37" fmla="*/ 187 h 199"/>
                <a:gd name="T38" fmla="*/ 47 w 199"/>
                <a:gd name="T39" fmla="*/ 187 h 199"/>
                <a:gd name="T40" fmla="*/ 12 w 199"/>
                <a:gd name="T41" fmla="*/ 152 h 199"/>
                <a:gd name="T42" fmla="*/ 12 w 199"/>
                <a:gd name="T43" fmla="*/ 47 h 199"/>
                <a:gd name="T44" fmla="*/ 47 w 199"/>
                <a:gd name="T45" fmla="*/ 12 h 199"/>
                <a:gd name="T46" fmla="*/ 162 w 199"/>
                <a:gd name="T47" fmla="*/ 27 h 199"/>
                <a:gd name="T48" fmla="*/ 152 w 199"/>
                <a:gd name="T49" fmla="*/ 37 h 199"/>
                <a:gd name="T50" fmla="*/ 162 w 199"/>
                <a:gd name="T51" fmla="*/ 48 h 199"/>
                <a:gd name="T52" fmla="*/ 173 w 199"/>
                <a:gd name="T53" fmla="*/ 37 h 199"/>
                <a:gd name="T54" fmla="*/ 162 w 199"/>
                <a:gd name="T55" fmla="*/ 27 h 199"/>
                <a:gd name="T56" fmla="*/ 163 w 199"/>
                <a:gd name="T57" fmla="*/ 100 h 199"/>
                <a:gd name="T58" fmla="*/ 99 w 199"/>
                <a:gd name="T59" fmla="*/ 36 h 199"/>
                <a:gd name="T60" fmla="*/ 35 w 199"/>
                <a:gd name="T61" fmla="*/ 100 h 199"/>
                <a:gd name="T62" fmla="*/ 99 w 199"/>
                <a:gd name="T63" fmla="*/ 164 h 199"/>
                <a:gd name="T64" fmla="*/ 163 w 199"/>
                <a:gd name="T65" fmla="*/ 10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99" h="199">
                  <a:moveTo>
                    <a:pt x="49" y="100"/>
                  </a:moveTo>
                  <a:cubicBezTo>
                    <a:pt x="49" y="72"/>
                    <a:pt x="71" y="49"/>
                    <a:pt x="99" y="49"/>
                  </a:cubicBezTo>
                  <a:cubicBezTo>
                    <a:pt x="127" y="49"/>
                    <a:pt x="150" y="72"/>
                    <a:pt x="150" y="100"/>
                  </a:cubicBezTo>
                  <a:cubicBezTo>
                    <a:pt x="150" y="128"/>
                    <a:pt x="127" y="150"/>
                    <a:pt x="99" y="150"/>
                  </a:cubicBezTo>
                  <a:cubicBezTo>
                    <a:pt x="71" y="150"/>
                    <a:pt x="49" y="128"/>
                    <a:pt x="49" y="100"/>
                  </a:cubicBezTo>
                  <a:close/>
                  <a:moveTo>
                    <a:pt x="152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78"/>
                    <a:pt x="21" y="199"/>
                    <a:pt x="47" y="199"/>
                  </a:cubicBezTo>
                  <a:cubicBezTo>
                    <a:pt x="152" y="199"/>
                    <a:pt x="152" y="199"/>
                    <a:pt x="152" y="199"/>
                  </a:cubicBezTo>
                  <a:cubicBezTo>
                    <a:pt x="178" y="199"/>
                    <a:pt x="199" y="178"/>
                    <a:pt x="199" y="152"/>
                  </a:cubicBezTo>
                  <a:cubicBezTo>
                    <a:pt x="199" y="47"/>
                    <a:pt x="199" y="47"/>
                    <a:pt x="199" y="47"/>
                  </a:cubicBezTo>
                  <a:cubicBezTo>
                    <a:pt x="199" y="21"/>
                    <a:pt x="178" y="0"/>
                    <a:pt x="152" y="0"/>
                  </a:cubicBezTo>
                  <a:close/>
                  <a:moveTo>
                    <a:pt x="47" y="12"/>
                  </a:moveTo>
                  <a:cubicBezTo>
                    <a:pt x="152" y="12"/>
                    <a:pt x="152" y="12"/>
                    <a:pt x="152" y="12"/>
                  </a:cubicBezTo>
                  <a:cubicBezTo>
                    <a:pt x="171" y="12"/>
                    <a:pt x="187" y="28"/>
                    <a:pt x="187" y="47"/>
                  </a:cubicBezTo>
                  <a:cubicBezTo>
                    <a:pt x="187" y="152"/>
                    <a:pt x="187" y="152"/>
                    <a:pt x="187" y="152"/>
                  </a:cubicBezTo>
                  <a:cubicBezTo>
                    <a:pt x="187" y="171"/>
                    <a:pt x="171" y="187"/>
                    <a:pt x="152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28" y="187"/>
                    <a:pt x="12" y="171"/>
                    <a:pt x="12" y="152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28"/>
                    <a:pt x="28" y="12"/>
                    <a:pt x="47" y="12"/>
                  </a:cubicBezTo>
                  <a:close/>
                  <a:moveTo>
                    <a:pt x="162" y="27"/>
                  </a:moveTo>
                  <a:cubicBezTo>
                    <a:pt x="156" y="27"/>
                    <a:pt x="152" y="32"/>
                    <a:pt x="152" y="37"/>
                  </a:cubicBezTo>
                  <a:cubicBezTo>
                    <a:pt x="152" y="43"/>
                    <a:pt x="156" y="48"/>
                    <a:pt x="162" y="48"/>
                  </a:cubicBezTo>
                  <a:cubicBezTo>
                    <a:pt x="168" y="48"/>
                    <a:pt x="173" y="43"/>
                    <a:pt x="173" y="37"/>
                  </a:cubicBezTo>
                  <a:cubicBezTo>
                    <a:pt x="173" y="32"/>
                    <a:pt x="168" y="27"/>
                    <a:pt x="162" y="27"/>
                  </a:cubicBezTo>
                  <a:close/>
                  <a:moveTo>
                    <a:pt x="163" y="100"/>
                  </a:moveTo>
                  <a:cubicBezTo>
                    <a:pt x="163" y="64"/>
                    <a:pt x="135" y="36"/>
                    <a:pt x="99" y="36"/>
                  </a:cubicBezTo>
                  <a:cubicBezTo>
                    <a:pt x="64" y="36"/>
                    <a:pt x="35" y="64"/>
                    <a:pt x="35" y="100"/>
                  </a:cubicBezTo>
                  <a:cubicBezTo>
                    <a:pt x="35" y="135"/>
                    <a:pt x="64" y="164"/>
                    <a:pt x="99" y="164"/>
                  </a:cubicBezTo>
                  <a:cubicBezTo>
                    <a:pt x="135" y="164"/>
                    <a:pt x="163" y="135"/>
                    <a:pt x="163" y="1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01DB2CC-6680-AB58-44EA-DF265753FC9C}"/>
              </a:ext>
            </a:extLst>
          </p:cNvPr>
          <p:cNvSpPr txBox="1"/>
          <p:nvPr/>
        </p:nvSpPr>
        <p:spPr>
          <a:xfrm>
            <a:off x="6711844" y="4072060"/>
            <a:ext cx="3029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200">
                <a:solidFill>
                  <a:schemeClr val="bg1"/>
                </a:solidFill>
              </a:rPr>
              <a:t>utm.my</a:t>
            </a:r>
          </a:p>
        </p:txBody>
      </p:sp>
      <p:sp>
        <p:nvSpPr>
          <p:cNvPr id="25" name="Shape 2865">
            <a:extLst>
              <a:ext uri="{FF2B5EF4-FFF2-40B4-BE49-F238E27FC236}">
                <a16:creationId xmlns:a16="http://schemas.microsoft.com/office/drawing/2014/main" id="{123F8921-49CA-90DB-32D1-C5AA4C985D01}"/>
              </a:ext>
            </a:extLst>
          </p:cNvPr>
          <p:cNvSpPr/>
          <p:nvPr/>
        </p:nvSpPr>
        <p:spPr>
          <a:xfrm>
            <a:off x="3720466" y="407695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sp>
        <p:nvSpPr>
          <p:cNvPr id="26" name="Shape 2861">
            <a:extLst>
              <a:ext uri="{FF2B5EF4-FFF2-40B4-BE49-F238E27FC236}">
                <a16:creationId xmlns:a16="http://schemas.microsoft.com/office/drawing/2014/main" id="{1380BA52-67A1-3ED5-42D9-2A461EBA05A8}"/>
              </a:ext>
            </a:extLst>
          </p:cNvPr>
          <p:cNvSpPr/>
          <p:nvPr/>
        </p:nvSpPr>
        <p:spPr>
          <a:xfrm>
            <a:off x="4072196" y="4076956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24" y="12090"/>
                </a:moveTo>
                <a:cubicBezTo>
                  <a:pt x="14019" y="12090"/>
                  <a:pt x="14019" y="12428"/>
                  <a:pt x="14019" y="12428"/>
                </a:cubicBezTo>
                <a:lnTo>
                  <a:pt x="14019" y="12863"/>
                </a:lnTo>
                <a:lnTo>
                  <a:pt x="14628" y="12863"/>
                </a:lnTo>
                <a:lnTo>
                  <a:pt x="14628" y="12428"/>
                </a:lnTo>
                <a:cubicBezTo>
                  <a:pt x="14628" y="12428"/>
                  <a:pt x="14628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19" y="13348"/>
                </a:lnTo>
                <a:lnTo>
                  <a:pt x="14019" y="14072"/>
                </a:lnTo>
                <a:cubicBezTo>
                  <a:pt x="14019" y="14072"/>
                  <a:pt x="14019" y="14411"/>
                  <a:pt x="14324" y="14411"/>
                </a:cubicBezTo>
                <a:cubicBezTo>
                  <a:pt x="14628" y="14411"/>
                  <a:pt x="14628" y="14072"/>
                  <a:pt x="14628" y="14072"/>
                </a:cubicBezTo>
                <a:lnTo>
                  <a:pt x="14628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1" y="14266"/>
                  <a:pt x="13411" y="14266"/>
                </a:cubicBezTo>
                <a:lnTo>
                  <a:pt x="13411" y="12380"/>
                </a:lnTo>
                <a:cubicBezTo>
                  <a:pt x="13411" y="12380"/>
                  <a:pt x="13411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4" y="14169"/>
                </a:moveTo>
                <a:cubicBezTo>
                  <a:pt x="12904" y="14169"/>
                  <a:pt x="12904" y="14943"/>
                  <a:pt x="12347" y="14943"/>
                </a:cubicBezTo>
                <a:cubicBezTo>
                  <a:pt x="12005" y="14943"/>
                  <a:pt x="11798" y="14762"/>
                  <a:pt x="11687" y="14621"/>
                </a:cubicBezTo>
                <a:lnTo>
                  <a:pt x="11687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7" y="10446"/>
                </a:lnTo>
                <a:lnTo>
                  <a:pt x="11687" y="11888"/>
                </a:lnTo>
                <a:cubicBezTo>
                  <a:pt x="11788" y="11782"/>
                  <a:pt x="12036" y="11558"/>
                  <a:pt x="12347" y="11558"/>
                </a:cubicBezTo>
                <a:cubicBezTo>
                  <a:pt x="12752" y="11558"/>
                  <a:pt x="12904" y="11896"/>
                  <a:pt x="12904" y="12332"/>
                </a:cubicBezTo>
                <a:cubicBezTo>
                  <a:pt x="12904" y="12332"/>
                  <a:pt x="12904" y="14169"/>
                  <a:pt x="12904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3" y="11074"/>
                </a:lnTo>
                <a:lnTo>
                  <a:pt x="6363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0" y="9334"/>
                  <a:pt x="7074" y="9430"/>
                  <a:pt x="7074" y="9430"/>
                </a:cubicBezTo>
                <a:cubicBezTo>
                  <a:pt x="6233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3" y="16103"/>
                  <a:pt x="7074" y="16103"/>
                </a:cubicBezTo>
                <a:cubicBezTo>
                  <a:pt x="7074" y="16103"/>
                  <a:pt x="8905" y="16200"/>
                  <a:pt x="10800" y="16200"/>
                </a:cubicBezTo>
                <a:cubicBezTo>
                  <a:pt x="12630" y="16200"/>
                  <a:pt x="14527" y="16103"/>
                  <a:pt x="14527" y="16103"/>
                </a:cubicBezTo>
                <a:cubicBezTo>
                  <a:pt x="15367" y="16103"/>
                  <a:pt x="16048" y="15454"/>
                  <a:pt x="16048" y="14652"/>
                </a:cubicBezTo>
                <a:cubicBezTo>
                  <a:pt x="16048" y="14652"/>
                  <a:pt x="16200" y="13700"/>
                  <a:pt x="16200" y="12767"/>
                </a:cubicBezTo>
                <a:cubicBezTo>
                  <a:pt x="16200" y="11814"/>
                  <a:pt x="16048" y="10881"/>
                  <a:pt x="16048" y="10881"/>
                </a:cubicBezTo>
                <a:cubicBezTo>
                  <a:pt x="16048" y="10080"/>
                  <a:pt x="15367" y="9430"/>
                  <a:pt x="14527" y="943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992" y="12090"/>
                </a:moveTo>
                <a:cubicBezTo>
                  <a:pt x="11860" y="12090"/>
                  <a:pt x="11757" y="12168"/>
                  <a:pt x="11687" y="12243"/>
                </a:cubicBezTo>
                <a:lnTo>
                  <a:pt x="11687" y="14276"/>
                </a:lnTo>
                <a:cubicBezTo>
                  <a:pt x="11751" y="14345"/>
                  <a:pt x="11847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8"/>
                </a:lnTo>
                <a:cubicBezTo>
                  <a:pt x="12296" y="12428"/>
                  <a:pt x="12245" y="12090"/>
                  <a:pt x="11992" y="1209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2397" y="8801"/>
                </a:moveTo>
                <a:cubicBezTo>
                  <a:pt x="12802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6" y="8751"/>
                </a:lnTo>
                <a:lnTo>
                  <a:pt x="13766" y="5878"/>
                </a:lnTo>
                <a:lnTo>
                  <a:pt x="13158" y="5878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49" y="8348"/>
                  <a:pt x="12549" y="8196"/>
                  <a:pt x="12549" y="8196"/>
                </a:cubicBezTo>
                <a:lnTo>
                  <a:pt x="12549" y="5878"/>
                </a:lnTo>
                <a:lnTo>
                  <a:pt x="11941" y="5878"/>
                </a:lnTo>
                <a:lnTo>
                  <a:pt x="11941" y="8398"/>
                </a:lnTo>
                <a:cubicBezTo>
                  <a:pt x="11941" y="8398"/>
                  <a:pt x="11992" y="8801"/>
                  <a:pt x="12397" y="8801"/>
                </a:cubicBezTo>
                <a:moveTo>
                  <a:pt x="10166" y="6634"/>
                </a:moveTo>
                <a:cubicBezTo>
                  <a:pt x="10166" y="6467"/>
                  <a:pt x="10302" y="6332"/>
                  <a:pt x="10470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0" y="8348"/>
                </a:cubicBezTo>
                <a:cubicBezTo>
                  <a:pt x="10302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8"/>
                  <a:pt x="10572" y="5878"/>
                </a:cubicBezTo>
                <a:lnTo>
                  <a:pt x="10369" y="5878"/>
                </a:lnTo>
                <a:cubicBezTo>
                  <a:pt x="9921" y="5878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latin typeface="Source Sans Pro Light" charset="0"/>
              <a:ea typeface="Source Sans Pro Light" charset="0"/>
              <a:cs typeface="Source Sans Pro Light" charset="0"/>
            </a:endParaRP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970F175F-7AF7-89EA-112A-720572DAAB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3684" y="4070864"/>
            <a:ext cx="289182" cy="28918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BBE6196-BF2A-FEBF-C038-9FC0BED4A868}"/>
              </a:ext>
            </a:extLst>
          </p:cNvPr>
          <p:cNvSpPr txBox="1"/>
          <p:nvPr/>
        </p:nvSpPr>
        <p:spPr>
          <a:xfrm>
            <a:off x="7819166" y="4069364"/>
            <a:ext cx="18615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200" err="1">
                <a:solidFill>
                  <a:schemeClr val="bg1"/>
                </a:solidFill>
              </a:rPr>
              <a:t>utmofficial</a:t>
            </a:r>
            <a:endParaRPr lang="en-MY" sz="1200">
              <a:solidFill>
                <a:schemeClr val="bg1"/>
              </a:solidFill>
            </a:endParaRP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B08DA86B-1F79-234F-1249-1C05AE9EA6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9397" y="4076956"/>
            <a:ext cx="289182" cy="28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522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1959</Words>
  <Application>Microsoft Office PowerPoint</Application>
  <PresentationFormat>Widescreen</PresentationFormat>
  <Paragraphs>301</Paragraphs>
  <Slides>31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Montserrat Semi</vt:lpstr>
      <vt:lpstr>游ゴシック</vt:lpstr>
      <vt:lpstr>Aptos</vt:lpstr>
      <vt:lpstr>Arial</vt:lpstr>
      <vt:lpstr>Calibri</vt:lpstr>
      <vt:lpstr>Consolas</vt:lpstr>
      <vt:lpstr>Roboto Condensed Light</vt:lpstr>
      <vt:lpstr>Source Sans Pro Light</vt:lpstr>
      <vt:lpstr>Times New Roman</vt:lpstr>
      <vt:lpstr>Office Theme</vt:lpstr>
      <vt:lpstr>PowerPoint Presentation</vt:lpstr>
      <vt:lpstr>PowerPoint Presentation</vt:lpstr>
      <vt:lpstr>PowerPoint Presentation</vt:lpstr>
      <vt:lpstr>Database: Event_Booking_System – 4 Collections</vt:lpstr>
      <vt:lpstr>Embedding               vs               Referencing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Advanced: Indexing Strategy</vt:lpstr>
      <vt:lpstr>Advanced: Aggregation Pipelines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 AMALINA BINTI HAMIDI</dc:creator>
  <cp:lastModifiedBy>Polok Polok</cp:lastModifiedBy>
  <cp:revision>2</cp:revision>
  <dcterms:created xsi:type="dcterms:W3CDTF">2023-12-31T03:09:43Z</dcterms:created>
  <dcterms:modified xsi:type="dcterms:W3CDTF">2026-01-16T17:05:16Z</dcterms:modified>
</cp:coreProperties>
</file>